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Helvetica World Bold" panose="020B0604020202020204" charset="-128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prite Graffit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01" autoAdjust="0"/>
    <p:restoredTop sz="94622" autoAdjust="0"/>
  </p:normalViewPr>
  <p:slideViewPr>
    <p:cSldViewPr>
      <p:cViewPr varScale="1">
        <p:scale>
          <a:sx n="51" d="100"/>
          <a:sy n="51" d="100"/>
        </p:scale>
        <p:origin x="10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4T06:14:29.28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3076 3706,'-1'-4,"0"1,1 0,-1-1,-1 1,1 0,0-1,-1 1,0 0,1 0,-6-5,-4-10,5 5,1 1,1-1,0 0,1 0,0-1,-1-16,2-82,3 77,-7-66,-6 10,-1-124,13 135,0-64,-1 135,0 1,0-1,0 1,-1-1,-1 1,1 0,-1-1,-1 1,-4-8,0 4,0 0,-1 1,0 0,-19-18,27 29,-90-94,80 81,1 0,1-1,0 0,1-1,-12-28,7 7,3 7,-1 1,-1 0,-1 1,-24-36,-59-60,-24-36,53 55,5-3,-67-161,115 234,-20-35,26 55,-1 0,0 1,-2 0,-21-23,-19-10,-57-57,54 45,-78-63,42 45,39 32,-97-65,131 98,-33-20,-1 1,-58-23,68 37,-67-39,57 25,-2 2,0 2,-2 3,-113-32,146 51,0 1,-27 0,31 2,0 0,0-1,1-1,-24-6,32 5,0 0,0-1,1 0,-1-1,1 0,-12-11,-12-9,-17-6,29 20,0-1,-23-20,19 10,16 14,-1 1,1 0,-1 1,-1 0,1 0,-1 1,-17-8,5 6,-36-9,33 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4T06:14:31.5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2718 525,'-8'-1,"1"0,-1 0,1-1,0 0,-11-4,-20-5,-14 5,0 3,-78 4,51 0,-816 0,873-1,-1 1,1 0,-1 2,1 1,0 1,0 1,0 1,-27 12,30-11,1 0,-1-2,-1 0,1-2,-24 4,-1-4,-55-2,73 0,0 0,1 2,-1 0,1 2,0 1,0 1,-35 16,6 0,-62 24,99-42,0-2,0 0,-1 0,0-2,-19 1,13-4,1 0,-1-2,1 0,0-2,0-1,-40-15,40 14,-1 1,-35-5,45 8,12 3,-1 0,0-1,0 0,1 1,-1-1,1 0,-1 0,1-1,-1 1,1 0,0-1,-1 1,1-1,0 0,0 0,0 0,0 0,1 0,-3-3,3 2,0 1,0-1,1 1,-1-1,1 1,-1-1,1 0,0 1,0-1,0 0,0 1,0-1,1 1,-1-1,1 0,0 1,0-1,-1 1,2-1,0-1,14-23,1 0,1 1,2 2,30-31,-29 31,113-126,-48 61,-62 67,-1-1,-1-1,-1-1,27-42,-48 63,-5 6,-12 10,12-8,-15 11,-1-2,-1 0,0-1,-47 17,53-24,0 0,1 2,0 0,0 0,-25 18,39-24,0 0,0 0,0 0,0 0,0 0,0 0,0 0,1 0,-1 0,0 0,1 0,-1 0,1 1,-1-1,1 0,0 0,0 0,-1 1,1-1,0 0,0 1,0 1,1 1,0 1,1-1,-1 0,1 0,2 6,-2-7,0 1,0 0,-1-1,1 1,-1 0,0 0,0 8,-1-8,0 1,0 0,-1-1,1 1,-1 0,-1-1,1 1,-1-1,1 1,-1-1,-1 0,1 0,-6 8,3-7,0 1,-1-1,1 0,-1-1,0 1,-1-1,1-1,-8 4,11-5,0 0,-1 0,1 0,0 0,0 0,1 1,-1-1,0 1,1-1,0 1,-1 0,1 0,1 1,-1-1,-3 6,2 1,1 0,0 0,0 0,0 13,0-8,1-10,0-1,0 1,-1 0,0-1,1 1,-5 4,5-6,-1 0,0 0,1 0,0 0,0 0,0 1,0-1,0 0,0 0,1 1,0-1,0 1,0 4,2-1,0 0,1 1,0-1,0 0,0 0,1-1,0 1,0-1,1 0,10 11,-1-3,1-1,0-1,19 12,20 11,80 35,-123-66,0 0,1 0,-1-1,1-1,13 2,-13-3,1 1,-1 1,0 0,12 4,-16-2,0-1,0 1,-1 0,12 11,9 5,-15-10,0-1,0 2,20 24,-22-24,0 0,1 0,0-1,15 10,46 22,-53-33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4T06:14:33.90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423 337,'3'1,"-1"0,1 0,-1 0,1 1,-1-1,1 1,-1-1,0 1,0 0,0 0,0 0,2 3,4 2,4 7,-12-14,0 0,0 1,0-1,0 0,1 0,-1 1,0-1,0 0,0 1,0-1,0 0,0 1,0-1,0 0,0 1,0-1,0 0,0 0,0 1,0-1,0 0,0 1,0-1,-1 0,1 1,0-1,0 0,0 0,0 1,0-1,-1 0,1 0,0 1,0-1,-1 0,1 0,0 0,0 0,-1 1,1-1,0 0,-1 0,1 0,0 0,0 0,-1 0,1 0,0 0,-1 0,1 1,-2-1,1 0,0 0,0-1,0 1,0 0,0 0,-1 0,1-1,0 1,0-1,0 1,0-1,0 1,0-1,0 1,0-1,0 0,-1-1,-19-20,6 6,3 6,0 1,-1 0,0 0,-1 2,0 0,-20-8,23 10,0 0,1 0,-1-2,1 1,-9-9,-27-16,39 27,0 0,0 0,1 0,-1-1,1 0,1 0,-1-1,1 0,0 0,0 0,0 0,-6-13,5 5,1 4,1 0,-11-14,14 22,0 1,0 0,0-1,0 1,0 0,0-1,-1 1,1 0,0 0,-1 0,1 0,-1 0,1 0,-1 1,1-1,-1 1,0-1,1 1,-1-1,0 1,1 0,-4 0,3 0,1 0,-1 1,1 0,0-1,-1 1,1 0,0-1,0 1,0 0,0 0,0 0,0 0,0 0,0 1,0-1,0 0,0 0,1 1,-1-1,0 0,1 1,-1-1,1 0,-1 4,-5 37,6-39,-2 15,1 0,2 1,-1-1,5 25,-4-39,0 1,0 0,1 0,-1-1,1 1,0-1,0 1,1-1,-1 0,1 0,0 0,0 0,0 0,1-1,-1 0,1 1,0-1,0 0,0-1,0 1,7 2,14 4,-16-6,0 0,16 8,-22-9,-1-1,1 1,0 0,-1 0,1 1,-1-1,0 0,1 1,-1-1,0 1,-1 0,3 3,30 77,3 4,117 180,-146-255,-5-6,0-1,1 1,0-1,0 0,0 0,9 7,-13-12,0 0,0 1,1-1,-1 0,0 0,1 0,-1 0,0 0,1 0,-1 0,0 0,1 1,-1-1,0 0,1 0,-1 0,0-1,1 1,-1 0,0 0,0 0,1 0,-1 0,0 0,1 0,-1-1,0 1,0 0,1 0,-1 0,0 0,0-1,1 1,-1 0,0 0,0-1,0 1,1 0,-1-1,0 1,0 0,0 0,0-1,0 1,0 0,0-1,1 1,-1 0,0-1,0 0,2-19,-2 19,1-10,-2 0,0 0,0 0,-1 1,0-1,-1 0,-6-15,-36-71,26 58,8 17,-1 0,-1 2,0-1,-2 1,0 1,-1 1,-19-17,18 19,0-1,1 0,2-2,-18-25,24 30,0 0,1 0,1-1,1 1,0-2,0 1,-2-22,4-18,3 45,0 0,0 1,-1-1,0 1,-1 0,0-1,0 1,-1 0,-4-10,6 19,1-1,0 0,-1 0,1 1,-1-1,1 0,0 0,-1 1,1-1,0 0,0 0,0 0,0 1,0-1,0 0,0 0,0 0,0 0,0-1,0 2,1-1,-1 1,1 0,-1-1,0 1,1 0,-1-1,1 1,-1 0,1-1,-1 1,1 0,-1 0,1 0,-1 0,1-1,-1 1,1 0,-1 0,1 0,-1 0,2 0,4 1,0 0,0 0,0 0,6 2,-10-2,32 7,0 0,63 4,72-9,-117-5,-22 1,0 0,1 2,35 6,-59-5,-1 0,1-1,0 0,-1-1,1 1,0-1,0 0,-1-1,1 0,0 0,-1 0,1-1,0 0,-1 0,0-1,0 0,8-4,7-9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yk.kz/news/ekonomika/v-kazaxstane-rastet-kolichestvo-kafe-i-restoranov-448679.html" TargetMode="External"/><Relationship Id="rId3" Type="http://schemas.openxmlformats.org/officeDocument/2006/relationships/image" Target="../media/image8.svg"/><Relationship Id="rId7" Type="http://schemas.openxmlformats.org/officeDocument/2006/relationships/hyperlink" Target="https://stat.gov.kz/ru/sustainable-development-goals/goal/12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v.kz/memleket/entities/almaty/press/article/details/203200?utm_source=chatgpt.com" TargetMode="Externa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s.google.com/view/savebitealmaty/%D0%B3%D0%BB%D0%B0%D0%B2%D0%BD%D0%B0%D1%8F-%D1%81%D1%82%D1%80%D0%B0%D0%BD%D0%B8%D1%86%D0%B0" TargetMode="External"/><Relationship Id="rId13" Type="http://schemas.openxmlformats.org/officeDocument/2006/relationships/image" Target="../media/image23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customXml" Target="../ink/ink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2.png"/><Relationship Id="rId5" Type="http://schemas.openxmlformats.org/officeDocument/2006/relationships/image" Target="../media/image19.svg"/><Relationship Id="rId15" Type="http://schemas.openxmlformats.org/officeDocument/2006/relationships/image" Target="../media/image24.png"/><Relationship Id="rId10" Type="http://schemas.openxmlformats.org/officeDocument/2006/relationships/customXml" Target="../ink/ink1.xml"/><Relationship Id="rId4" Type="http://schemas.openxmlformats.org/officeDocument/2006/relationships/image" Target="../media/image18.png"/><Relationship Id="rId9" Type="http://schemas.openxmlformats.org/officeDocument/2006/relationships/hyperlink" Target="https://inquisitive-bunny-a659f5.netlify.app/" TargetMode="External"/><Relationship Id="rId1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5770" y="2390775"/>
            <a:ext cx="18687209" cy="4951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9"/>
              </a:lnSpc>
            </a:pPr>
            <a:r>
              <a:rPr lang="en-US" sz="41446" spc="-3937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проект</a:t>
            </a:r>
          </a:p>
        </p:txBody>
      </p:sp>
      <p:sp>
        <p:nvSpPr>
          <p:cNvPr id="3" name="AutoShape 3"/>
          <p:cNvSpPr/>
          <p:nvPr/>
        </p:nvSpPr>
        <p:spPr>
          <a:xfrm>
            <a:off x="7737122" y="8339843"/>
            <a:ext cx="2813756" cy="0"/>
          </a:xfrm>
          <a:prstGeom prst="line">
            <a:avLst/>
          </a:prstGeom>
          <a:ln w="57150" cap="flat">
            <a:solidFill>
              <a:srgbClr val="00A51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2622694" y="8610091"/>
            <a:ext cx="1202174" cy="805457"/>
          </a:xfrm>
          <a:custGeom>
            <a:avLst/>
            <a:gdLst/>
            <a:ahLst/>
            <a:cxnLst/>
            <a:rect l="l" t="t" r="r" b="b"/>
            <a:pathLst>
              <a:path w="1202174" h="805457">
                <a:moveTo>
                  <a:pt x="0" y="0"/>
                </a:moveTo>
                <a:lnTo>
                  <a:pt x="1202174" y="0"/>
                </a:lnTo>
                <a:lnTo>
                  <a:pt x="1202174" y="805456"/>
                </a:lnTo>
                <a:lnTo>
                  <a:pt x="0" y="805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11123" y="1285558"/>
            <a:ext cx="2243152" cy="4722425"/>
          </a:xfrm>
          <a:custGeom>
            <a:avLst/>
            <a:gdLst/>
            <a:ahLst/>
            <a:cxnLst/>
            <a:rect l="l" t="t" r="r" b="b"/>
            <a:pathLst>
              <a:path w="2243152" h="4722425">
                <a:moveTo>
                  <a:pt x="0" y="0"/>
                </a:moveTo>
                <a:lnTo>
                  <a:pt x="2243151" y="0"/>
                </a:lnTo>
                <a:lnTo>
                  <a:pt x="2243151" y="4722425"/>
                </a:lnTo>
                <a:lnTo>
                  <a:pt x="0" y="4722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82852" y="4185318"/>
            <a:ext cx="2199788" cy="1583847"/>
          </a:xfrm>
          <a:custGeom>
            <a:avLst/>
            <a:gdLst/>
            <a:ahLst/>
            <a:cxnLst/>
            <a:rect l="l" t="t" r="r" b="b"/>
            <a:pathLst>
              <a:path w="2199788" h="1583847">
                <a:moveTo>
                  <a:pt x="0" y="0"/>
                </a:moveTo>
                <a:lnTo>
                  <a:pt x="2199788" y="0"/>
                </a:lnTo>
                <a:lnTo>
                  <a:pt x="2199788" y="1583847"/>
                </a:lnTo>
                <a:lnTo>
                  <a:pt x="0" y="1583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35660">
            <a:off x="1131164" y="3740516"/>
            <a:ext cx="1063584" cy="2473450"/>
          </a:xfrm>
          <a:custGeom>
            <a:avLst/>
            <a:gdLst/>
            <a:ahLst/>
            <a:cxnLst/>
            <a:rect l="l" t="t" r="r" b="b"/>
            <a:pathLst>
              <a:path w="1063584" h="2473450">
                <a:moveTo>
                  <a:pt x="0" y="0"/>
                </a:moveTo>
                <a:lnTo>
                  <a:pt x="1063584" y="0"/>
                </a:lnTo>
                <a:lnTo>
                  <a:pt x="1063584" y="2473451"/>
                </a:lnTo>
                <a:lnTo>
                  <a:pt x="0" y="24734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9007" y="8562466"/>
            <a:ext cx="2486652" cy="390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23.09.2026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62025"/>
            <a:ext cx="126851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Трек 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9559" y="6233548"/>
            <a:ext cx="14568881" cy="156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9187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Приложение по борьбе с пищевыми отходами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D00D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“Savebite”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47887" y="8724176"/>
            <a:ext cx="3307685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Команда DIAMONDS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35643" y="772788"/>
            <a:ext cx="6094198" cy="9141297"/>
          </a:xfrm>
          <a:custGeom>
            <a:avLst/>
            <a:gdLst/>
            <a:ahLst/>
            <a:cxnLst/>
            <a:rect l="l" t="t" r="r" b="b"/>
            <a:pathLst>
              <a:path w="6094198" h="9141297">
                <a:moveTo>
                  <a:pt x="0" y="0"/>
                </a:moveTo>
                <a:lnTo>
                  <a:pt x="6094198" y="0"/>
                </a:lnTo>
                <a:lnTo>
                  <a:pt x="6094198" y="9141297"/>
                </a:lnTo>
                <a:lnTo>
                  <a:pt x="0" y="914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00757" y="4181321"/>
            <a:ext cx="4662440" cy="3414773"/>
          </a:xfrm>
          <a:custGeom>
            <a:avLst/>
            <a:gdLst/>
            <a:ahLst/>
            <a:cxnLst/>
            <a:rect l="l" t="t" r="r" b="b"/>
            <a:pathLst>
              <a:path w="4662440" h="3414773">
                <a:moveTo>
                  <a:pt x="0" y="0"/>
                </a:moveTo>
                <a:lnTo>
                  <a:pt x="0" y="228600"/>
                </a:lnTo>
                <a:cubicBezTo>
                  <a:pt x="0" y="354853"/>
                  <a:pt x="102348" y="457200"/>
                  <a:pt x="228600" y="457200"/>
                </a:cubicBezTo>
                <a:lnTo>
                  <a:pt x="775558" y="457200"/>
                </a:lnTo>
                <a:cubicBezTo>
                  <a:pt x="836187" y="457200"/>
                  <a:pt x="894333" y="481285"/>
                  <a:pt x="937203" y="524155"/>
                </a:cubicBezTo>
                <a:cubicBezTo>
                  <a:pt x="980074" y="567026"/>
                  <a:pt x="1004158" y="625172"/>
                  <a:pt x="1004158" y="685800"/>
                </a:cubicBezTo>
                <a:lnTo>
                  <a:pt x="1004158" y="3186173"/>
                </a:lnTo>
                <a:cubicBezTo>
                  <a:pt x="1004158" y="3246802"/>
                  <a:pt x="1028243" y="3304948"/>
                  <a:pt x="1071114" y="3347818"/>
                </a:cubicBezTo>
                <a:cubicBezTo>
                  <a:pt x="1113984" y="3390689"/>
                  <a:pt x="1172130" y="3414773"/>
                  <a:pt x="1232758" y="3414773"/>
                </a:cubicBezTo>
                <a:lnTo>
                  <a:pt x="4662440" y="3414773"/>
                </a:lnTo>
              </a:path>
            </a:pathLst>
          </a:custGeom>
          <a:ln w="57150" cap="flat">
            <a:solidFill>
              <a:srgbClr val="A51E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" name="Group 4"/>
          <p:cNvGrpSpPr/>
          <p:nvPr/>
        </p:nvGrpSpPr>
        <p:grpSpPr>
          <a:xfrm>
            <a:off x="-656186" y="9612350"/>
            <a:ext cx="20399448" cy="745829"/>
            <a:chOff x="0" y="0"/>
            <a:chExt cx="5814215" cy="196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4215" cy="196432"/>
            </a:xfrm>
            <a:custGeom>
              <a:avLst/>
              <a:gdLst/>
              <a:ahLst/>
              <a:cxnLst/>
              <a:rect l="l" t="t" r="r" b="b"/>
              <a:pathLst>
                <a:path w="5814215" h="196432">
                  <a:moveTo>
                    <a:pt x="0" y="0"/>
                  </a:moveTo>
                  <a:lnTo>
                    <a:pt x="5814215" y="0"/>
                  </a:lnTo>
                  <a:lnTo>
                    <a:pt x="5814215" y="196432"/>
                  </a:lnTo>
                  <a:lnTo>
                    <a:pt x="0" y="196432"/>
                  </a:lnTo>
                  <a:close/>
                </a:path>
              </a:pathLst>
            </a:custGeom>
            <a:solidFill>
              <a:srgbClr val="00A51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14215" cy="24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669944" y="325959"/>
            <a:ext cx="3747189" cy="125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00"/>
              </a:lnSpc>
            </a:pPr>
            <a:r>
              <a:rPr lang="en-US" sz="7214">
                <a:solidFill>
                  <a:srgbClr val="A51E00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Проблема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076" y="1853205"/>
            <a:ext cx="8289382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Кафе, рестораны, пекарни и магазины сталкиваются с непроданной едой, которая остаётся в конце дня.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4651" y="2908781"/>
            <a:ext cx="8511070" cy="127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41414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Неэкологично</a:t>
            </a:r>
            <a:r>
              <a:rPr lang="en-US" sz="24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выбрасывать качественные продукты и готовые блюда только потому, что подходит к концу срок их реализации.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77146" y="4450144"/>
            <a:ext cx="2958497" cy="284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sz="230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Многие люди, как студенты и работники могли бы экономить свои средства и покупать остатки еды с более низкой ценой.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076" y="5305337"/>
            <a:ext cx="6820653" cy="332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Потеря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прибыли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у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заведений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остатки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еды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остались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но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покупателей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нет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Экологическая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проблема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напрасно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использованные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вода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энергия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земля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и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другие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ресурсы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Социальная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проблема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люди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не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могут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позволить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себе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качественное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питание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за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низкую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3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цену</a:t>
            </a:r>
            <a:r>
              <a:rPr lang="en-US" sz="23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076" y="4639235"/>
            <a:ext cx="5808443" cy="5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sz="2750" b="1">
                <a:solidFill>
                  <a:srgbClr val="41414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Ситуация касается всех сторон: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5781" y="1084805"/>
            <a:ext cx="2451736" cy="1814285"/>
          </a:xfrm>
          <a:custGeom>
            <a:avLst/>
            <a:gdLst/>
            <a:ahLst/>
            <a:cxnLst/>
            <a:rect l="l" t="t" r="r" b="b"/>
            <a:pathLst>
              <a:path w="2451736" h="1814285">
                <a:moveTo>
                  <a:pt x="0" y="0"/>
                </a:moveTo>
                <a:lnTo>
                  <a:pt x="2451736" y="0"/>
                </a:lnTo>
                <a:lnTo>
                  <a:pt x="2451736" y="1814284"/>
                </a:lnTo>
                <a:lnTo>
                  <a:pt x="0" y="181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79594" y="6390201"/>
            <a:ext cx="2279706" cy="1139853"/>
          </a:xfrm>
          <a:custGeom>
            <a:avLst/>
            <a:gdLst/>
            <a:ahLst/>
            <a:cxnLst/>
            <a:rect l="l" t="t" r="r" b="b"/>
            <a:pathLst>
              <a:path w="2279706" h="1139853">
                <a:moveTo>
                  <a:pt x="0" y="0"/>
                </a:moveTo>
                <a:lnTo>
                  <a:pt x="2279706" y="0"/>
                </a:lnTo>
                <a:lnTo>
                  <a:pt x="2279706" y="1139853"/>
                </a:lnTo>
                <a:lnTo>
                  <a:pt x="0" y="1139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84676" y="3670580"/>
            <a:ext cx="9339835" cy="127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Согласно проведенным исследованиям, морфологический состав твердых бытовых отходов в городе Алматы в 2024 году составляет: пищевые отходы – </a:t>
            </a:r>
            <a:r>
              <a:rPr lang="en-US" sz="2400" b="1">
                <a:solidFill>
                  <a:srgbClr val="41414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47,5%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75781" y="5814033"/>
            <a:ext cx="13276825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В Казахстане уже существует государственная цель по сокращению пищевых отходов.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Национальная статистика Казахстана отслеживает показатель SDG 12.3 — сокращение пищевых отходов и потерь продовольствия. Международная цель SDG 12.3 предусматривает к 2030 году сократить вдвое пищевые отходы на розничном и потребительском уровнях.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62499" y="1146127"/>
            <a:ext cx="12396801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 каждым годом в Алматы количество точек питания интенсивно растет.</a:t>
            </a:r>
          </a:p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В 2025 году в стране насчитывалось 19 588 заведения общественного питания, это на 17,5% больше по сравнению с 2024 годом, когда было зарегистрировано 16 674 объектов.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62158" y="8627344"/>
            <a:ext cx="6730717" cy="1261913"/>
            <a:chOff x="0" y="0"/>
            <a:chExt cx="8974289" cy="1682550"/>
          </a:xfrm>
        </p:grpSpPr>
        <p:sp>
          <p:nvSpPr>
            <p:cNvPr id="8" name="TextBox 8"/>
            <p:cNvSpPr txBox="1"/>
            <p:nvPr/>
          </p:nvSpPr>
          <p:spPr>
            <a:xfrm>
              <a:off x="0" y="343111"/>
              <a:ext cx="8974289" cy="311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62" lvl="1" indent="-151131" algn="l">
                <a:lnSpc>
                  <a:spcPts val="1960"/>
                </a:lnSpc>
                <a:buFont typeface="Arial"/>
                <a:buChar char="•"/>
              </a:pPr>
              <a:r>
                <a:rPr lang="en-US" sz="1400" u="sng">
                  <a:solidFill>
                    <a:srgbClr val="414141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6" tooltip="https://www.gov.kz/memleket/entities/almaty/press/article/details/203200?utm_source=chatgpt.com"/>
                </a:rPr>
                <a:t>Отчет Управления экологии и окружающей среды города Алматы за 2024 год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10789"/>
              <a:ext cx="8286363" cy="971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62" lvl="1" indent="-151131" algn="l">
                <a:lnSpc>
                  <a:spcPts val="1960"/>
                </a:lnSpc>
                <a:buFont typeface="Arial"/>
                <a:buChar char="•"/>
              </a:pPr>
              <a:r>
                <a:rPr lang="en-US" sz="1400" u="sng">
                  <a:solidFill>
                    <a:srgbClr val="414141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7" tooltip="https://stat.gov.kz/ru/sustainable-development-goals/goal/12/"/>
                </a:rPr>
                <a:t>Цель 12. Ответственное потребление и производство - Бюро национальной статистики Агентства по стратегическому планированию и реформам Республики Казахстан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030257" cy="3113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62" lvl="1" indent="-151131" algn="l">
                <a:lnSpc>
                  <a:spcPts val="1960"/>
                </a:lnSpc>
                <a:buFont typeface="Arial"/>
                <a:buChar char="•"/>
              </a:pPr>
              <a:r>
                <a:rPr lang="en-US" sz="1400" u="sng">
                  <a:solidFill>
                    <a:srgbClr val="414141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8" tooltip="https://yk.kz/news/ekonomika/v-kazaxstane-rastet-kolichestvo-kafe-i-restoranov-448679.html"/>
                </a:rPr>
                <a:t>В Казахстане растет количество кафе и ресторанов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3774" y="775744"/>
            <a:ext cx="1977492" cy="1127170"/>
          </a:xfrm>
          <a:custGeom>
            <a:avLst/>
            <a:gdLst/>
            <a:ahLst/>
            <a:cxnLst/>
            <a:rect l="l" t="t" r="r" b="b"/>
            <a:pathLst>
              <a:path w="1977492" h="1127170">
                <a:moveTo>
                  <a:pt x="0" y="0"/>
                </a:moveTo>
                <a:lnTo>
                  <a:pt x="1977491" y="0"/>
                </a:lnTo>
                <a:lnTo>
                  <a:pt x="1977491" y="1127171"/>
                </a:lnTo>
                <a:lnTo>
                  <a:pt x="0" y="1127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79027" y="6517136"/>
            <a:ext cx="7258831" cy="2985434"/>
          </a:xfrm>
          <a:custGeom>
            <a:avLst/>
            <a:gdLst/>
            <a:ahLst/>
            <a:cxnLst/>
            <a:rect l="l" t="t" r="r" b="b"/>
            <a:pathLst>
              <a:path w="7258831" h="2985434">
                <a:moveTo>
                  <a:pt x="0" y="0"/>
                </a:moveTo>
                <a:lnTo>
                  <a:pt x="7258831" y="0"/>
                </a:lnTo>
                <a:lnTo>
                  <a:pt x="7258831" y="2985433"/>
                </a:lnTo>
                <a:lnTo>
                  <a:pt x="0" y="2985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581656" y="7312410"/>
            <a:ext cx="6754650" cy="2974590"/>
          </a:xfrm>
          <a:custGeom>
            <a:avLst/>
            <a:gdLst/>
            <a:ahLst/>
            <a:cxnLst/>
            <a:rect l="l" t="t" r="r" b="b"/>
            <a:pathLst>
              <a:path w="6754650" h="2974590">
                <a:moveTo>
                  <a:pt x="0" y="0"/>
                </a:moveTo>
                <a:lnTo>
                  <a:pt x="6754650" y="0"/>
                </a:lnTo>
                <a:lnTo>
                  <a:pt x="6754650" y="2974590"/>
                </a:lnTo>
                <a:lnTo>
                  <a:pt x="0" y="2974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7320462"/>
            <a:ext cx="5275251" cy="2966538"/>
          </a:xfrm>
          <a:custGeom>
            <a:avLst/>
            <a:gdLst/>
            <a:ahLst/>
            <a:cxnLst/>
            <a:rect l="l" t="t" r="r" b="b"/>
            <a:pathLst>
              <a:path w="5275251" h="2966538">
                <a:moveTo>
                  <a:pt x="0" y="0"/>
                </a:moveTo>
                <a:lnTo>
                  <a:pt x="5275251" y="0"/>
                </a:lnTo>
                <a:lnTo>
                  <a:pt x="5275251" y="2966538"/>
                </a:lnTo>
                <a:lnTo>
                  <a:pt x="0" y="296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57468" y="2816656"/>
            <a:ext cx="12301513" cy="341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sz="278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Мы опросили 24 человек. Опрос состоял из 9 вопросов.</a:t>
            </a:r>
          </a:p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sz="278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50% - готовы покупать качественную непроданную еду со скидкой 30–70%</a:t>
            </a:r>
          </a:p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sz="278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33% - рассматривают такую возможность</a:t>
            </a:r>
          </a:p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sz="278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50% - готовы пользоваться подобным приложением</a:t>
            </a:r>
          </a:p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sz="278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67% - предпочитают самостоятельно выбирать конкретное блюдо</a:t>
            </a:r>
          </a:p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sz="278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83% - главным препятствием считают сомнения в свежести еды</a:t>
            </a:r>
          </a:p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sz="278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63% - ранее не знали о сервисах по продаже непроданной еды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57468" y="971550"/>
            <a:ext cx="12673997" cy="14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2"/>
              </a:lnSpc>
              <a:spcBef>
                <a:spcPct val="0"/>
              </a:spcBef>
            </a:pPr>
            <a:r>
              <a:rPr lang="en-US" sz="2608">
                <a:solidFill>
                  <a:srgbClr val="A51E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Чтобы понять, насколько проблема актуальна для людей и готовы ли они покупать качественную непроданную еду по сниженной цене, мы провели </a:t>
            </a:r>
            <a:r>
              <a:rPr lang="en-US" sz="2608" b="1">
                <a:solidFill>
                  <a:srgbClr val="A51E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опрос</a:t>
            </a:r>
            <a:r>
              <a:rPr lang="en-US" sz="2608">
                <a:solidFill>
                  <a:srgbClr val="A51E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среди потенциальных клиентов.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375847">
            <a:off x="8952923" y="4497452"/>
            <a:ext cx="1292171" cy="1880869"/>
          </a:xfrm>
          <a:custGeom>
            <a:avLst/>
            <a:gdLst/>
            <a:ahLst/>
            <a:cxnLst/>
            <a:rect l="l" t="t" r="r" b="b"/>
            <a:pathLst>
              <a:path w="1656873" h="2317304">
                <a:moveTo>
                  <a:pt x="0" y="0"/>
                </a:moveTo>
                <a:lnTo>
                  <a:pt x="1656873" y="0"/>
                </a:lnTo>
                <a:lnTo>
                  <a:pt x="1656873" y="2317305"/>
                </a:lnTo>
                <a:lnTo>
                  <a:pt x="0" y="2317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8600" y="334940"/>
            <a:ext cx="1608879" cy="1464080"/>
          </a:xfrm>
          <a:custGeom>
            <a:avLst/>
            <a:gdLst/>
            <a:ahLst/>
            <a:cxnLst/>
            <a:rect l="l" t="t" r="r" b="b"/>
            <a:pathLst>
              <a:path w="1608879" h="1464080">
                <a:moveTo>
                  <a:pt x="0" y="0"/>
                </a:moveTo>
                <a:lnTo>
                  <a:pt x="1608879" y="0"/>
                </a:lnTo>
                <a:lnTo>
                  <a:pt x="1608879" y="1464079"/>
                </a:lnTo>
                <a:lnTo>
                  <a:pt x="0" y="1464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42922" y="-12689"/>
            <a:ext cx="3274359" cy="3578535"/>
          </a:xfrm>
          <a:custGeom>
            <a:avLst/>
            <a:gdLst/>
            <a:ahLst/>
            <a:cxnLst/>
            <a:rect l="l" t="t" r="r" b="b"/>
            <a:pathLst>
              <a:path w="3274359" h="3578535">
                <a:moveTo>
                  <a:pt x="0" y="0"/>
                </a:moveTo>
                <a:lnTo>
                  <a:pt x="3274359" y="0"/>
                </a:lnTo>
                <a:lnTo>
                  <a:pt x="3274359" y="3578535"/>
                </a:lnTo>
                <a:lnTo>
                  <a:pt x="0" y="3578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57111" y="-249628"/>
            <a:ext cx="2611686" cy="228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95"/>
              </a:lnSpc>
            </a:pPr>
            <a:r>
              <a:rPr lang="en-US" sz="13353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MVP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0254" y="2142464"/>
            <a:ext cx="11978558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Savebite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соединяет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заведения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с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непроданной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едой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и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людей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которые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готовы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забрать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её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со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скидкой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0254" y="3256260"/>
            <a:ext cx="8264723" cy="318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Предложения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появляются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когда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у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заведения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возникает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остаток</a:t>
            </a:r>
            <a:endParaRPr lang="en-US" sz="2599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имеют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количество</a:t>
            </a:r>
            <a:endParaRPr lang="en-US" sz="2599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имеют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цену</a:t>
            </a:r>
            <a:endParaRPr lang="en-US" sz="2599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имеют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дедлайн</a:t>
            </a:r>
            <a:endParaRPr lang="en-US" sz="2599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исчезают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после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продажи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/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окончания</a:t>
            </a:r>
            <a:r>
              <a:rPr lang="en-US" sz="2599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99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времени</a:t>
            </a:r>
            <a:endParaRPr lang="en-US" sz="2599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639"/>
              </a:lnSpc>
            </a:pPr>
            <a:endParaRPr lang="en-US" sz="2599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95939" y="780369"/>
            <a:ext cx="5347334" cy="458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571">
                <a:solidFill>
                  <a:srgbClr val="D00D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Почему </a:t>
            </a:r>
            <a:r>
              <a:rPr lang="en-US" sz="2571" b="1">
                <a:solidFill>
                  <a:srgbClr val="D00D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Savebite</a:t>
            </a:r>
            <a:r>
              <a:rPr lang="en-US" sz="2571">
                <a:solidFill>
                  <a:srgbClr val="D00D1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65041" y="6583364"/>
            <a:ext cx="1876806" cy="1314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Ключевая</a:t>
            </a:r>
            <a:r>
              <a:rPr lang="en-US" sz="2000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продуктовая</a:t>
            </a:r>
            <a:r>
              <a:rPr lang="en-US" sz="2000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особенность</a:t>
            </a:r>
            <a:endParaRPr lang="en-US" sz="2000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685832" y="4882806"/>
            <a:ext cx="4714181" cy="362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02"/>
              </a:lnSpc>
            </a:pPr>
            <a:r>
              <a:rPr lang="en-US" sz="2930">
                <a:solidFill>
                  <a:srgbClr val="00A51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Технологии</a:t>
            </a:r>
          </a:p>
          <a:p>
            <a:pPr algn="r">
              <a:lnSpc>
                <a:spcPts val="4102"/>
              </a:lnSpc>
            </a:pPr>
            <a:r>
              <a:rPr lang="en-US" sz="293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Mobile: Savebite</a:t>
            </a:r>
          </a:p>
          <a:p>
            <a:pPr algn="r">
              <a:lnSpc>
                <a:spcPts val="4102"/>
              </a:lnSpc>
            </a:pPr>
            <a:r>
              <a:rPr lang="en-US" sz="293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Backend / DB: Firebase</a:t>
            </a:r>
          </a:p>
          <a:p>
            <a:pPr algn="r">
              <a:lnSpc>
                <a:spcPts val="4102"/>
              </a:lnSpc>
            </a:pPr>
            <a:r>
              <a:rPr lang="en-US" sz="293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Maps: Google Maps API</a:t>
            </a:r>
          </a:p>
          <a:p>
            <a:pPr algn="r">
              <a:lnSpc>
                <a:spcPts val="4102"/>
              </a:lnSpc>
            </a:pPr>
            <a:r>
              <a:rPr lang="en-US" sz="293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Авторизация: Firebase Auth</a:t>
            </a:r>
          </a:p>
          <a:p>
            <a:pPr algn="r">
              <a:lnSpc>
                <a:spcPts val="4102"/>
              </a:lnSpc>
            </a:pPr>
            <a:r>
              <a:rPr lang="en-US" sz="293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QR: QR generation/scanning</a:t>
            </a:r>
          </a:p>
          <a:p>
            <a:pPr algn="r">
              <a:lnSpc>
                <a:spcPts val="4102"/>
              </a:lnSpc>
            </a:pPr>
            <a:endParaRPr lang="en-US" sz="293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08DC7-06B8-4190-9A3A-2055176D9026}"/>
              </a:ext>
            </a:extLst>
          </p:cNvPr>
          <p:cNvSpPr txBox="1"/>
          <p:nvPr/>
        </p:nvSpPr>
        <p:spPr>
          <a:xfrm>
            <a:off x="762000" y="6946280"/>
            <a:ext cx="41101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8"/>
              </a:rPr>
              <a:t>https://sites.google.com/view/savebitealmaty/%D0%B3%D0%BB%D0%B0%D0%B2%D0%BD%D0%B0%D1%8F-%D1%81%D1%82%D1%80%D0%B0%D0%BD%D0%B8%D1%86%D0%B0</a:t>
            </a:r>
            <a:endParaRPr lang="ru-RU" sz="1400" dirty="0"/>
          </a:p>
        </p:txBody>
      </p:sp>
      <p:sp>
        <p:nvSpPr>
          <p:cNvPr id="14" name="TextBox 13">
            <a:hlinkClick r:id="rId9"/>
            <a:extLst>
              <a:ext uri="{FF2B5EF4-FFF2-40B4-BE49-F238E27FC236}">
                <a16:creationId xmlns:a16="http://schemas.microsoft.com/office/drawing/2014/main" id="{CB7393A2-5B7A-4C35-A3A1-3D399DE35F96}"/>
              </a:ext>
            </a:extLst>
          </p:cNvPr>
          <p:cNvSpPr txBox="1"/>
          <p:nvPr/>
        </p:nvSpPr>
        <p:spPr>
          <a:xfrm>
            <a:off x="830254" y="8623866"/>
            <a:ext cx="4184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/>
              </a:rPr>
              <a:t>https://</a:t>
            </a:r>
            <a:r>
              <a:rPr lang="en-US" sz="1400" dirty="0">
                <a:hlinkClick r:id="rId9"/>
              </a:rPr>
              <a:t>inquisitive-bunny-a659f5</a:t>
            </a:r>
            <a:r>
              <a:rPr lang="en-US" dirty="0">
                <a:hlinkClick r:id="rId9"/>
              </a:rPr>
              <a:t>.netlify.app/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F0935-E184-426B-BC24-0AEAF8FE321F}"/>
              </a:ext>
            </a:extLst>
          </p:cNvPr>
          <p:cNvSpPr txBox="1"/>
          <p:nvPr/>
        </p:nvSpPr>
        <p:spPr>
          <a:xfrm>
            <a:off x="5679033" y="8883388"/>
            <a:ext cx="2986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Наши два прототипа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9FD50551-2F86-4111-995E-F112C7011CF2}"/>
              </a:ext>
            </a:extLst>
          </p:cNvPr>
          <p:cNvGrpSpPr/>
          <p:nvPr/>
        </p:nvGrpSpPr>
        <p:grpSpPr>
          <a:xfrm>
            <a:off x="4987696" y="7326167"/>
            <a:ext cx="1228945" cy="1636737"/>
            <a:chOff x="4795609" y="7036215"/>
            <a:chExt cx="1429920" cy="19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F5CE74FE-0EB3-4D4E-9F8F-C4444B7B7EB5}"/>
                    </a:ext>
                  </a:extLst>
                </p14:cNvPr>
                <p14:cNvContentPartPr/>
                <p14:nvPr/>
              </p14:nvContentPartPr>
              <p14:xfrm>
                <a:off x="4937089" y="7165815"/>
                <a:ext cx="1288440" cy="1552680"/>
              </p14:xfrm>
            </p:contentPart>
          </mc:Choice>
          <mc:Fallback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F5CE74FE-0EB3-4D4E-9F8F-C4444B7B7E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7036" y="7155344"/>
                  <a:ext cx="1308965" cy="1573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8C866734-B356-4D03-A562-78EBD49E875A}"/>
                    </a:ext>
                  </a:extLst>
                </p14:cNvPr>
                <p14:cNvContentPartPr/>
                <p14:nvPr/>
              </p14:nvContentPartPr>
              <p14:xfrm>
                <a:off x="4949329" y="8473335"/>
                <a:ext cx="1138320" cy="467280"/>
              </p14:xfrm>
            </p:contentPart>
          </mc:Choice>
          <mc:Fallback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8C866734-B356-4D03-A562-78EBD49E87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39278" y="8462867"/>
                  <a:ext cx="1158842" cy="487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1DE17AB3-F65E-41B1-8ADF-C105C226FE08}"/>
                    </a:ext>
                  </a:extLst>
                </p14:cNvPr>
                <p14:cNvContentPartPr/>
                <p14:nvPr/>
              </p14:nvContentPartPr>
              <p14:xfrm>
                <a:off x="4795609" y="7036215"/>
                <a:ext cx="339840" cy="367920"/>
              </p14:xfrm>
            </p:contentPart>
          </mc:Choice>
          <mc:Fallback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1DE17AB3-F65E-41B1-8ADF-C105C226FE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5146" y="7025739"/>
                  <a:ext cx="360348" cy="388453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1152" y="101601"/>
            <a:ext cx="15125696" cy="10083797"/>
          </a:xfrm>
          <a:custGeom>
            <a:avLst/>
            <a:gdLst/>
            <a:ahLst/>
            <a:cxnLst/>
            <a:rect l="l" t="t" r="r" b="b"/>
            <a:pathLst>
              <a:path w="15125696" h="10083797">
                <a:moveTo>
                  <a:pt x="0" y="0"/>
                </a:moveTo>
                <a:lnTo>
                  <a:pt x="15125696" y="0"/>
                </a:lnTo>
                <a:lnTo>
                  <a:pt x="15125696" y="10083798"/>
                </a:lnTo>
                <a:lnTo>
                  <a:pt x="0" y="10083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2880" y="5935917"/>
            <a:ext cx="15962240" cy="0"/>
          </a:xfrm>
          <a:prstGeom prst="line">
            <a:avLst/>
          </a:prstGeom>
          <a:ln w="19050" cap="flat">
            <a:solidFill>
              <a:srgbClr val="41414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162880" y="5058254"/>
            <a:ext cx="15962240" cy="0"/>
          </a:xfrm>
          <a:prstGeom prst="line">
            <a:avLst/>
          </a:prstGeom>
          <a:ln w="19050" cap="flat">
            <a:solidFill>
              <a:srgbClr val="41414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62880" y="3933898"/>
            <a:ext cx="15962240" cy="0"/>
          </a:xfrm>
          <a:prstGeom prst="line">
            <a:avLst/>
          </a:prstGeom>
          <a:ln w="19050" cap="flat">
            <a:solidFill>
              <a:srgbClr val="41414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336727" y="7893032"/>
            <a:ext cx="1073895" cy="1107109"/>
          </a:xfrm>
          <a:custGeom>
            <a:avLst/>
            <a:gdLst/>
            <a:ahLst/>
            <a:cxnLst/>
            <a:rect l="l" t="t" r="r" b="b"/>
            <a:pathLst>
              <a:path w="1073895" h="1107109">
                <a:moveTo>
                  <a:pt x="0" y="0"/>
                </a:moveTo>
                <a:lnTo>
                  <a:pt x="1073896" y="0"/>
                </a:lnTo>
                <a:lnTo>
                  <a:pt x="1073896" y="1107108"/>
                </a:lnTo>
                <a:lnTo>
                  <a:pt x="0" y="110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53661" y="-804317"/>
            <a:ext cx="6051176" cy="4114800"/>
          </a:xfrm>
          <a:custGeom>
            <a:avLst/>
            <a:gdLst/>
            <a:ahLst/>
            <a:cxnLst/>
            <a:rect l="l" t="t" r="r" b="b"/>
            <a:pathLst>
              <a:path w="6051176" h="4114800">
                <a:moveTo>
                  <a:pt x="0" y="0"/>
                </a:moveTo>
                <a:lnTo>
                  <a:pt x="6051176" y="0"/>
                </a:lnTo>
                <a:lnTo>
                  <a:pt x="60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2606" y="784951"/>
            <a:ext cx="12791711" cy="1287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62"/>
              </a:lnSpc>
            </a:pPr>
            <a:r>
              <a:rPr lang="en-US" sz="7473">
                <a:solidFill>
                  <a:srgbClr val="D00D16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 Что получает каждая сторона: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59007" y="7749119"/>
            <a:ext cx="4984101" cy="125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00"/>
              </a:lnSpc>
            </a:pPr>
            <a:r>
              <a:rPr lang="en-US" sz="7214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win- win- win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0386" y="3253333"/>
            <a:ext cx="5076591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41414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Пользователь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39471" y="3253333"/>
            <a:ext cx="2931686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41414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Бизнес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43108" y="3253333"/>
            <a:ext cx="2770818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41414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Экология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0386" y="4314898"/>
            <a:ext cx="282444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Еда дешевле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0386" y="5210654"/>
            <a:ext cx="338747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Удобный поиск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0386" y="6042455"/>
            <a:ext cx="303893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Еда рядом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56977" y="4314898"/>
            <a:ext cx="50765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Дополнительная выручка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56977" y="5259642"/>
            <a:ext cx="50765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Меньше списаний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56977" y="6140432"/>
            <a:ext cx="50765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Новый канал продаж</a:t>
            </a:r>
          </a:p>
        </p:txBody>
      </p:sp>
      <p:sp>
        <p:nvSpPr>
          <p:cNvPr id="18" name="TextBox 18"/>
          <p:cNvSpPr txBox="1"/>
          <p:nvPr/>
        </p:nvSpPr>
        <p:spPr>
          <a:xfrm rot="-43872">
            <a:off x="12045454" y="4282525"/>
            <a:ext cx="50765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Меньше отходов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43108" y="5259642"/>
            <a:ext cx="50765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Экономия ресурсов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43108" y="6140432"/>
            <a:ext cx="507659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Ответственное потребление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38200" y="8955536"/>
            <a:ext cx="54407" cy="439544"/>
          </a:xfrm>
          <a:prstGeom prst="line">
            <a:avLst/>
          </a:prstGeom>
          <a:ln w="66675" cap="flat">
            <a:solidFill>
              <a:srgbClr val="41414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2057400" y="678770"/>
            <a:ext cx="14478000" cy="1487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55"/>
              </a:lnSpc>
            </a:pPr>
            <a:r>
              <a:rPr lang="en-US" sz="9253" dirty="0" err="1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Модель</a:t>
            </a:r>
            <a:r>
              <a:rPr lang="en-US" sz="9253" dirty="0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 </a:t>
            </a:r>
            <a:r>
              <a:rPr lang="en-US" sz="9253" dirty="0" err="1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монитизации</a:t>
            </a:r>
            <a:r>
              <a:rPr lang="en-US" sz="9253" dirty="0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 </a:t>
            </a:r>
            <a:r>
              <a:rPr lang="en-US" sz="8000" dirty="0" err="1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mvp</a:t>
            </a:r>
            <a:endParaRPr lang="en-US" sz="8000" dirty="0">
              <a:solidFill>
                <a:srgbClr val="00A51F"/>
              </a:solidFill>
              <a:latin typeface="Sprite Graffiti"/>
              <a:ea typeface="Sprite Graffiti"/>
              <a:cs typeface="Sprite Graffiti"/>
              <a:sym typeface="Sprite Graffit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324600" y="2418869"/>
            <a:ext cx="6701339" cy="500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10% </a:t>
            </a:r>
            <a:r>
              <a:rPr lang="en-US" sz="3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комиссия</a:t>
            </a:r>
            <a:r>
              <a:rPr lang="en-US" sz="3000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с </a:t>
            </a:r>
            <a:r>
              <a:rPr lang="en-US" sz="3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успешного</a:t>
            </a:r>
            <a:r>
              <a:rPr lang="en-US" sz="3000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заказа</a:t>
            </a:r>
            <a:endParaRPr lang="en-US" sz="3000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2400" y="8886847"/>
            <a:ext cx="6591300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Предварительная</a:t>
            </a:r>
            <a:r>
              <a:rPr lang="en-US" sz="2000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финансовая</a:t>
            </a:r>
            <a:r>
              <a:rPr lang="en-US" sz="2000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гипотеза</a:t>
            </a:r>
            <a:endParaRPr lang="en-US" sz="2000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E249332-EA56-4F93-A94F-003FE5DE2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25674"/>
            <a:ext cx="203200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E84E38-E661-42D8-AE60-9EB65E90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2" y="3367255"/>
            <a:ext cx="17253556" cy="5450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57465" y="468044"/>
            <a:ext cx="16973069" cy="1500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107"/>
              </a:lnSpc>
            </a:pPr>
            <a:r>
              <a:rPr lang="en-US" sz="9362" dirty="0" err="1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Потенциал</a:t>
            </a:r>
            <a:r>
              <a:rPr lang="en-US" sz="9362" dirty="0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 </a:t>
            </a:r>
            <a:r>
              <a:rPr lang="en-US" sz="9362" dirty="0" err="1">
                <a:solidFill>
                  <a:srgbClr val="00A51F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масштабирования</a:t>
            </a:r>
            <a:endParaRPr lang="en-US" sz="9362" dirty="0">
              <a:solidFill>
                <a:srgbClr val="00A51F"/>
              </a:solidFill>
              <a:latin typeface="Sprite Graffiti"/>
              <a:ea typeface="Sprite Graffiti"/>
              <a:cs typeface="Sprite Graffiti"/>
              <a:sym typeface="Sprite Graffit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03310" y="7560281"/>
            <a:ext cx="3978290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4"/>
              </a:lnSpc>
            </a:pPr>
            <a:r>
              <a:rPr lang="en-US" sz="2282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Этап</a:t>
            </a:r>
            <a:r>
              <a:rPr lang="en-US" sz="2282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1 — 10 </a:t>
            </a:r>
            <a:r>
              <a:rPr lang="en-US" sz="2282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заведений</a:t>
            </a:r>
            <a:endParaRPr lang="en-US" sz="2282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57400" y="8107129"/>
            <a:ext cx="1787775" cy="173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1997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2–4 </a:t>
            </a:r>
            <a:r>
              <a:rPr lang="en-US" sz="1997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недели</a:t>
            </a:r>
            <a:endParaRPr lang="en-US" sz="1997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2796"/>
              </a:lnSpc>
            </a:pPr>
            <a:r>
              <a:rPr lang="en-US" sz="1997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Подключаем</a:t>
            </a:r>
            <a:r>
              <a:rPr lang="en-US" sz="1997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marL="431300" lvl="1" indent="-215650" algn="ctr">
              <a:lnSpc>
                <a:spcPts val="2796"/>
              </a:lnSpc>
              <a:buFont typeface="Arial"/>
              <a:buChar char="•"/>
            </a:pPr>
            <a:r>
              <a:rPr lang="en-US" sz="1997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пекарни</a:t>
            </a:r>
            <a:endParaRPr lang="en-US" sz="1997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31300" lvl="1" indent="-215650" algn="ctr">
              <a:lnSpc>
                <a:spcPts val="2796"/>
              </a:lnSpc>
              <a:buFont typeface="Arial"/>
              <a:buChar char="•"/>
            </a:pPr>
            <a:r>
              <a:rPr lang="en-US" sz="1997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кофейни</a:t>
            </a:r>
            <a:endParaRPr lang="en-US" sz="1997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431300" lvl="1" indent="-215650" algn="ctr">
              <a:lnSpc>
                <a:spcPts val="2796"/>
              </a:lnSpc>
              <a:buFont typeface="Arial"/>
              <a:buChar char="•"/>
            </a:pPr>
            <a:r>
              <a:rPr lang="en-US" sz="1997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кафе</a:t>
            </a:r>
            <a:endParaRPr lang="en-US" sz="1997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23789" y="7675793"/>
            <a:ext cx="4696058" cy="38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1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Этап 2 — 100–300 пользователей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9117" y="8194616"/>
            <a:ext cx="4760730" cy="209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300" lvl="1" indent="-215650" algn="l">
              <a:lnSpc>
                <a:spcPts val="2796"/>
              </a:lnSpc>
              <a:buFont typeface="Arial"/>
              <a:buChar char="•"/>
            </a:pPr>
            <a:r>
              <a:rPr lang="en-US" sz="19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Привлечь первых пользователей.</a:t>
            </a:r>
          </a:p>
          <a:p>
            <a:pPr marL="431300" lvl="1" indent="-215650" algn="l">
              <a:lnSpc>
                <a:spcPts val="2796"/>
              </a:lnSpc>
              <a:buFont typeface="Arial"/>
              <a:buChar char="•"/>
            </a:pPr>
            <a:r>
              <a:rPr lang="en-US" sz="19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Отслеживать заказы и наиболее востребованные предложения.</a:t>
            </a:r>
          </a:p>
          <a:p>
            <a:pPr marL="431300" lvl="1" indent="-215650" algn="l">
              <a:lnSpc>
                <a:spcPts val="2796"/>
              </a:lnSpc>
              <a:buFont typeface="Arial"/>
              <a:buChar char="•"/>
            </a:pPr>
            <a:r>
              <a:rPr lang="en-US" sz="19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Собрать обратную связь от клиентов и заведений.</a:t>
            </a:r>
          </a:p>
          <a:p>
            <a:pPr algn="l">
              <a:lnSpc>
                <a:spcPts val="2796"/>
              </a:lnSpc>
            </a:pPr>
            <a:endParaRPr lang="en-US" sz="1997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992282" y="7560281"/>
            <a:ext cx="2560728" cy="38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1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Этап 3 — измеряем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43164" y="8381485"/>
            <a:ext cx="2658963" cy="1387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300" lvl="1" indent="-215650" algn="l">
              <a:lnSpc>
                <a:spcPts val="2796"/>
              </a:lnSpc>
              <a:buFont typeface="Arial"/>
              <a:buChar char="•"/>
            </a:pPr>
            <a:r>
              <a:rPr lang="en-US" sz="19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📦 Sell-through rate</a:t>
            </a:r>
          </a:p>
          <a:p>
            <a:pPr marL="431300" lvl="1" indent="-215650" algn="l">
              <a:lnSpc>
                <a:spcPts val="2796"/>
              </a:lnSpc>
              <a:buFont typeface="Arial"/>
              <a:buChar char="•"/>
            </a:pPr>
            <a:r>
              <a:rPr lang="en-US" sz="19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🔄 Repeat rate</a:t>
            </a:r>
          </a:p>
          <a:p>
            <a:pPr marL="431300" lvl="1" indent="-215650" algn="l">
              <a:lnSpc>
                <a:spcPts val="2796"/>
              </a:lnSpc>
              <a:buFont typeface="Arial"/>
              <a:buChar char="•"/>
            </a:pPr>
            <a:r>
              <a:rPr lang="en-US" sz="19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🏪 Active partners</a:t>
            </a:r>
          </a:p>
          <a:p>
            <a:pPr marL="431300" lvl="1" indent="-215650" algn="l">
              <a:lnSpc>
                <a:spcPts val="2796"/>
              </a:lnSpc>
              <a:buFont typeface="Arial"/>
              <a:buChar char="•"/>
            </a:pPr>
            <a:r>
              <a:rPr lang="en-US" sz="1997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💰 GMV / revenue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6024A5F-C81C-4600-9F55-6260CD75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108954"/>
            <a:ext cx="14949429" cy="50919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944244" y="750072"/>
            <a:ext cx="4458365" cy="5246370"/>
            <a:chOff x="0" y="0"/>
            <a:chExt cx="5396230" cy="6350000"/>
          </a:xfrm>
        </p:grpSpPr>
        <p:sp>
          <p:nvSpPr>
            <p:cNvPr id="3" name="Freeform 3"/>
            <p:cNvSpPr/>
            <p:nvPr/>
          </p:nvSpPr>
          <p:spPr>
            <a:xfrm>
              <a:off x="11430" y="11430"/>
              <a:ext cx="5373370" cy="6327140"/>
            </a:xfrm>
            <a:custGeom>
              <a:avLst/>
              <a:gdLst/>
              <a:ahLst/>
              <a:cxnLst/>
              <a:rect l="l" t="t" r="r" b="b"/>
              <a:pathLst>
                <a:path w="5373370" h="6327140">
                  <a:moveTo>
                    <a:pt x="5373370" y="610870"/>
                  </a:moveTo>
                  <a:lnTo>
                    <a:pt x="5373370" y="953770"/>
                  </a:lnTo>
                  <a:moveTo>
                    <a:pt x="5373370" y="953770"/>
                  </a:moveTo>
                  <a:lnTo>
                    <a:pt x="5373370" y="6079490"/>
                  </a:lnTo>
                  <a:cubicBezTo>
                    <a:pt x="5373370" y="6216650"/>
                    <a:pt x="5262880" y="6327140"/>
                    <a:pt x="5125720" y="6327140"/>
                  </a:cubicBezTo>
                  <a:lnTo>
                    <a:pt x="247650" y="6327140"/>
                  </a:lnTo>
                  <a:cubicBezTo>
                    <a:pt x="110490" y="6327140"/>
                    <a:pt x="0" y="6216650"/>
                    <a:pt x="0" y="6079490"/>
                  </a:cubicBezTo>
                  <a:lnTo>
                    <a:pt x="0" y="247650"/>
                  </a:lnTo>
                  <a:cubicBezTo>
                    <a:pt x="0" y="110490"/>
                    <a:pt x="110490" y="0"/>
                    <a:pt x="247650" y="0"/>
                  </a:cubicBezTo>
                  <a:lnTo>
                    <a:pt x="5125720" y="0"/>
                  </a:lnTo>
                  <a:cubicBezTo>
                    <a:pt x="5262880" y="0"/>
                    <a:pt x="5373370" y="110490"/>
                    <a:pt x="5373370" y="247650"/>
                  </a:cubicBezTo>
                  <a:lnTo>
                    <a:pt x="5373370" y="610870"/>
                  </a:lnTo>
                </a:path>
              </a:pathLst>
            </a:custGeom>
            <a:blipFill>
              <a:blip r:embed="rId2"/>
              <a:stretch>
                <a:fillRect l="-15405" t="-40261" r="-17013" b="-9682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5148580" y="471170"/>
              <a:ext cx="236220" cy="5868670"/>
            </a:xfrm>
            <a:custGeom>
              <a:avLst/>
              <a:gdLst/>
              <a:ahLst/>
              <a:cxnLst/>
              <a:rect l="l" t="t" r="r" b="b"/>
              <a:pathLst>
                <a:path w="236220" h="5868670">
                  <a:moveTo>
                    <a:pt x="236220" y="240030"/>
                  </a:moveTo>
                  <a:lnTo>
                    <a:pt x="236220" y="494030"/>
                  </a:lnTo>
                  <a:moveTo>
                    <a:pt x="236220" y="494030"/>
                  </a:moveTo>
                  <a:lnTo>
                    <a:pt x="236220" y="5868670"/>
                  </a:lnTo>
                  <a:lnTo>
                    <a:pt x="0" y="5868670"/>
                  </a:lnTo>
                  <a:lnTo>
                    <a:pt x="0" y="0"/>
                  </a:lnTo>
                  <a:lnTo>
                    <a:pt x="236220" y="0"/>
                  </a:lnTo>
                  <a:lnTo>
                    <a:pt x="236220" y="240030"/>
                  </a:lnTo>
                </a:path>
              </a:pathLst>
            </a:custGeom>
            <a:solidFill>
              <a:srgbClr val="00994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1430" y="11430"/>
              <a:ext cx="5373370" cy="4245610"/>
            </a:xfrm>
            <a:custGeom>
              <a:avLst/>
              <a:gdLst/>
              <a:ahLst/>
              <a:cxnLst/>
              <a:rect l="l" t="t" r="r" b="b"/>
              <a:pathLst>
                <a:path w="5373370" h="4245610">
                  <a:moveTo>
                    <a:pt x="5373370" y="2345690"/>
                  </a:moveTo>
                  <a:lnTo>
                    <a:pt x="5373370" y="4182110"/>
                  </a:lnTo>
                  <a:cubicBezTo>
                    <a:pt x="5373370" y="4217670"/>
                    <a:pt x="5344160" y="4245610"/>
                    <a:pt x="5309870" y="4245610"/>
                  </a:cubicBezTo>
                  <a:lnTo>
                    <a:pt x="5201920" y="4245610"/>
                  </a:lnTo>
                  <a:cubicBezTo>
                    <a:pt x="5166360" y="4245610"/>
                    <a:pt x="5138420" y="4216400"/>
                    <a:pt x="5138420" y="4182110"/>
                  </a:cubicBezTo>
                  <a:lnTo>
                    <a:pt x="5138420" y="2345690"/>
                  </a:lnTo>
                  <a:cubicBezTo>
                    <a:pt x="5138420" y="2310130"/>
                    <a:pt x="5167630" y="2282190"/>
                    <a:pt x="5201920" y="2282190"/>
                  </a:cubicBezTo>
                  <a:lnTo>
                    <a:pt x="5309870" y="2282190"/>
                  </a:lnTo>
                  <a:cubicBezTo>
                    <a:pt x="5344160" y="2282190"/>
                    <a:pt x="5373370" y="2310130"/>
                    <a:pt x="5373370" y="2345690"/>
                  </a:cubicBezTo>
                  <a:close/>
                  <a:moveTo>
                    <a:pt x="5126990" y="0"/>
                  </a:moveTo>
                  <a:lnTo>
                    <a:pt x="246380" y="0"/>
                  </a:lnTo>
                  <a:cubicBezTo>
                    <a:pt x="110490" y="0"/>
                    <a:pt x="0" y="110490"/>
                    <a:pt x="0" y="246380"/>
                  </a:cubicBezTo>
                  <a:lnTo>
                    <a:pt x="0" y="458470"/>
                  </a:lnTo>
                  <a:lnTo>
                    <a:pt x="5373370" y="458470"/>
                  </a:lnTo>
                  <a:lnTo>
                    <a:pt x="5373370" y="246380"/>
                  </a:lnTo>
                  <a:cubicBezTo>
                    <a:pt x="5373370" y="110490"/>
                    <a:pt x="5262880" y="0"/>
                    <a:pt x="5126990" y="0"/>
                  </a:cubicBezTo>
                  <a:close/>
                </a:path>
              </a:pathLst>
            </a:custGeom>
            <a:solidFill>
              <a:srgbClr val="D00D16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20980" y="160020"/>
              <a:ext cx="651510" cy="162560"/>
            </a:xfrm>
            <a:custGeom>
              <a:avLst/>
              <a:gdLst/>
              <a:ahLst/>
              <a:cxnLst/>
              <a:rect l="l" t="t" r="r" b="b"/>
              <a:pathLst>
                <a:path w="651510" h="162560">
                  <a:moveTo>
                    <a:pt x="162560" y="81280"/>
                  </a:moveTo>
                  <a:cubicBezTo>
                    <a:pt x="162560" y="125730"/>
                    <a:pt x="125730" y="162560"/>
                    <a:pt x="81280" y="162560"/>
                  </a:cubicBezTo>
                  <a:cubicBezTo>
                    <a:pt x="36830" y="162560"/>
                    <a:pt x="0" y="125730"/>
                    <a:pt x="0" y="81280"/>
                  </a:cubicBezTo>
                  <a:cubicBezTo>
                    <a:pt x="0" y="36830"/>
                    <a:pt x="36830" y="0"/>
                    <a:pt x="81280" y="0"/>
                  </a:cubicBezTo>
                  <a:cubicBezTo>
                    <a:pt x="125730" y="0"/>
                    <a:pt x="162560" y="35560"/>
                    <a:pt x="162560" y="81280"/>
                  </a:cubicBezTo>
                  <a:close/>
                  <a:moveTo>
                    <a:pt x="570230" y="0"/>
                  </a:moveTo>
                  <a:cubicBezTo>
                    <a:pt x="525780" y="0"/>
                    <a:pt x="488950" y="36830"/>
                    <a:pt x="488950" y="81280"/>
                  </a:cubicBezTo>
                  <a:cubicBezTo>
                    <a:pt x="488950" y="125730"/>
                    <a:pt x="525780" y="162560"/>
                    <a:pt x="570230" y="162560"/>
                  </a:cubicBezTo>
                  <a:cubicBezTo>
                    <a:pt x="614680" y="162560"/>
                    <a:pt x="651510" y="125730"/>
                    <a:pt x="651510" y="81280"/>
                  </a:cubicBezTo>
                  <a:cubicBezTo>
                    <a:pt x="651510" y="36830"/>
                    <a:pt x="614680" y="0"/>
                    <a:pt x="570230" y="0"/>
                  </a:cubicBezTo>
                  <a:close/>
                  <a:moveTo>
                    <a:pt x="325120" y="0"/>
                  </a:moveTo>
                  <a:cubicBezTo>
                    <a:pt x="280670" y="0"/>
                    <a:pt x="243840" y="36830"/>
                    <a:pt x="243840" y="81280"/>
                  </a:cubicBezTo>
                  <a:cubicBezTo>
                    <a:pt x="243840" y="125730"/>
                    <a:pt x="280670" y="162560"/>
                    <a:pt x="325120" y="162560"/>
                  </a:cubicBezTo>
                  <a:cubicBezTo>
                    <a:pt x="369570" y="162560"/>
                    <a:pt x="406400" y="125730"/>
                    <a:pt x="406400" y="81280"/>
                  </a:cubicBezTo>
                  <a:cubicBezTo>
                    <a:pt x="406400" y="36830"/>
                    <a:pt x="370840" y="0"/>
                    <a:pt x="325120" y="0"/>
                  </a:cubicBezTo>
                  <a:close/>
                </a:path>
              </a:pathLst>
            </a:custGeom>
            <a:solidFill>
              <a:srgbClr val="FFCD78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5397500" cy="6350000"/>
            </a:xfrm>
            <a:custGeom>
              <a:avLst/>
              <a:gdLst/>
              <a:ahLst/>
              <a:cxnLst/>
              <a:rect l="l" t="t" r="r" b="b"/>
              <a:pathLst>
                <a:path w="5397500" h="6350000">
                  <a:moveTo>
                    <a:pt x="5137150" y="0"/>
                  </a:moveTo>
                  <a:lnTo>
                    <a:pt x="259080" y="0"/>
                  </a:lnTo>
                  <a:cubicBezTo>
                    <a:pt x="115570" y="0"/>
                    <a:pt x="0" y="115570"/>
                    <a:pt x="0" y="259080"/>
                  </a:cubicBezTo>
                  <a:lnTo>
                    <a:pt x="0" y="6090920"/>
                  </a:lnTo>
                  <a:cubicBezTo>
                    <a:pt x="0" y="6234430"/>
                    <a:pt x="115570" y="6350000"/>
                    <a:pt x="259080" y="6350000"/>
                  </a:cubicBezTo>
                  <a:lnTo>
                    <a:pt x="5137150" y="6350000"/>
                  </a:lnTo>
                  <a:cubicBezTo>
                    <a:pt x="5140960" y="6350000"/>
                    <a:pt x="5143500" y="6350000"/>
                    <a:pt x="5147310" y="6350000"/>
                  </a:cubicBezTo>
                  <a:lnTo>
                    <a:pt x="5148580" y="6350000"/>
                  </a:lnTo>
                  <a:cubicBezTo>
                    <a:pt x="5149850" y="6350000"/>
                    <a:pt x="5149850" y="6350000"/>
                    <a:pt x="5151120" y="6350000"/>
                  </a:cubicBezTo>
                  <a:cubicBezTo>
                    <a:pt x="5288280" y="6343650"/>
                    <a:pt x="5397500" y="6230620"/>
                    <a:pt x="5397500" y="6092190"/>
                  </a:cubicBezTo>
                  <a:lnTo>
                    <a:pt x="5397500" y="4145280"/>
                  </a:lnTo>
                  <a:lnTo>
                    <a:pt x="5397500" y="2406650"/>
                  </a:lnTo>
                  <a:lnTo>
                    <a:pt x="5397500" y="471170"/>
                  </a:lnTo>
                  <a:lnTo>
                    <a:pt x="5397500" y="259080"/>
                  </a:lnTo>
                  <a:cubicBezTo>
                    <a:pt x="5396230" y="115570"/>
                    <a:pt x="5279390" y="0"/>
                    <a:pt x="5137150" y="0"/>
                  </a:cubicBezTo>
                  <a:close/>
                  <a:moveTo>
                    <a:pt x="259080" y="22860"/>
                  </a:moveTo>
                  <a:lnTo>
                    <a:pt x="5137150" y="22860"/>
                  </a:lnTo>
                  <a:cubicBezTo>
                    <a:pt x="5267960" y="22860"/>
                    <a:pt x="5373370" y="128270"/>
                    <a:pt x="5373370" y="259080"/>
                  </a:cubicBezTo>
                  <a:lnTo>
                    <a:pt x="5373370" y="459740"/>
                  </a:lnTo>
                  <a:lnTo>
                    <a:pt x="5147310" y="459740"/>
                  </a:lnTo>
                  <a:lnTo>
                    <a:pt x="22860" y="459740"/>
                  </a:lnTo>
                  <a:lnTo>
                    <a:pt x="22860" y="259080"/>
                  </a:lnTo>
                  <a:cubicBezTo>
                    <a:pt x="22860" y="128270"/>
                    <a:pt x="128270" y="22860"/>
                    <a:pt x="259080" y="22860"/>
                  </a:cubicBezTo>
                  <a:close/>
                  <a:moveTo>
                    <a:pt x="22860" y="6090920"/>
                  </a:moveTo>
                  <a:lnTo>
                    <a:pt x="22860" y="481330"/>
                  </a:lnTo>
                  <a:lnTo>
                    <a:pt x="5137150" y="481330"/>
                  </a:lnTo>
                  <a:lnTo>
                    <a:pt x="5137150" y="6327140"/>
                  </a:lnTo>
                  <a:lnTo>
                    <a:pt x="259080" y="6327140"/>
                  </a:lnTo>
                  <a:cubicBezTo>
                    <a:pt x="128270" y="6327140"/>
                    <a:pt x="22860" y="6221730"/>
                    <a:pt x="22860" y="6090920"/>
                  </a:cubicBezTo>
                  <a:close/>
                  <a:moveTo>
                    <a:pt x="5373370" y="6090920"/>
                  </a:moveTo>
                  <a:cubicBezTo>
                    <a:pt x="5373370" y="6214110"/>
                    <a:pt x="5279390" y="6314440"/>
                    <a:pt x="5158740" y="6325870"/>
                  </a:cubicBezTo>
                  <a:lnTo>
                    <a:pt x="5158740" y="4216400"/>
                  </a:lnTo>
                  <a:cubicBezTo>
                    <a:pt x="5181600" y="4248150"/>
                    <a:pt x="5218430" y="4269740"/>
                    <a:pt x="5260340" y="4269740"/>
                  </a:cubicBezTo>
                  <a:lnTo>
                    <a:pt x="5270500" y="4269740"/>
                  </a:lnTo>
                  <a:cubicBezTo>
                    <a:pt x="5312410" y="4269740"/>
                    <a:pt x="5350510" y="4248150"/>
                    <a:pt x="5372100" y="4216400"/>
                  </a:cubicBezTo>
                  <a:lnTo>
                    <a:pt x="5372100" y="6090920"/>
                  </a:lnTo>
                  <a:lnTo>
                    <a:pt x="5373370" y="6090920"/>
                  </a:lnTo>
                  <a:close/>
                  <a:moveTo>
                    <a:pt x="5158740" y="4145280"/>
                  </a:moveTo>
                  <a:lnTo>
                    <a:pt x="5158740" y="2406650"/>
                  </a:lnTo>
                  <a:cubicBezTo>
                    <a:pt x="5158740" y="2350770"/>
                    <a:pt x="5204460" y="2305050"/>
                    <a:pt x="5260340" y="2305050"/>
                  </a:cubicBezTo>
                  <a:lnTo>
                    <a:pt x="5270500" y="2305050"/>
                  </a:lnTo>
                  <a:cubicBezTo>
                    <a:pt x="5326380" y="2305050"/>
                    <a:pt x="5372100" y="2350770"/>
                    <a:pt x="5372100" y="2406650"/>
                  </a:cubicBezTo>
                  <a:lnTo>
                    <a:pt x="5372100" y="4145280"/>
                  </a:lnTo>
                  <a:cubicBezTo>
                    <a:pt x="5372100" y="4201160"/>
                    <a:pt x="5326380" y="4246880"/>
                    <a:pt x="5270500" y="4246880"/>
                  </a:cubicBezTo>
                  <a:lnTo>
                    <a:pt x="5260340" y="4246880"/>
                  </a:lnTo>
                  <a:cubicBezTo>
                    <a:pt x="5204460" y="4246880"/>
                    <a:pt x="5158740" y="4201160"/>
                    <a:pt x="5158740" y="4145280"/>
                  </a:cubicBezTo>
                  <a:close/>
                  <a:moveTo>
                    <a:pt x="5271770" y="2282190"/>
                  </a:moveTo>
                  <a:lnTo>
                    <a:pt x="5261610" y="2282190"/>
                  </a:lnTo>
                  <a:cubicBezTo>
                    <a:pt x="5219700" y="2282190"/>
                    <a:pt x="5181600" y="2303780"/>
                    <a:pt x="5160010" y="2335530"/>
                  </a:cubicBezTo>
                  <a:lnTo>
                    <a:pt x="5160010" y="481330"/>
                  </a:lnTo>
                  <a:lnTo>
                    <a:pt x="5374640" y="481330"/>
                  </a:lnTo>
                  <a:lnTo>
                    <a:pt x="5374640" y="2334260"/>
                  </a:lnTo>
                  <a:cubicBezTo>
                    <a:pt x="5350510" y="2303780"/>
                    <a:pt x="5313680" y="2282190"/>
                    <a:pt x="5271770" y="2282190"/>
                  </a:cubicBezTo>
                  <a:close/>
                  <a:moveTo>
                    <a:pt x="302260" y="332740"/>
                  </a:moveTo>
                  <a:cubicBezTo>
                    <a:pt x="353060" y="332740"/>
                    <a:pt x="394970" y="290830"/>
                    <a:pt x="394970" y="240030"/>
                  </a:cubicBezTo>
                  <a:cubicBezTo>
                    <a:pt x="394970" y="189230"/>
                    <a:pt x="353060" y="147320"/>
                    <a:pt x="302260" y="147320"/>
                  </a:cubicBezTo>
                  <a:cubicBezTo>
                    <a:pt x="251460" y="147320"/>
                    <a:pt x="209550" y="190500"/>
                    <a:pt x="209550" y="241300"/>
                  </a:cubicBezTo>
                  <a:cubicBezTo>
                    <a:pt x="209550" y="292100"/>
                    <a:pt x="251460" y="332740"/>
                    <a:pt x="302260" y="332740"/>
                  </a:cubicBezTo>
                  <a:close/>
                  <a:moveTo>
                    <a:pt x="302260" y="171450"/>
                  </a:moveTo>
                  <a:cubicBezTo>
                    <a:pt x="340360" y="171450"/>
                    <a:pt x="372110" y="203200"/>
                    <a:pt x="372110" y="241300"/>
                  </a:cubicBezTo>
                  <a:cubicBezTo>
                    <a:pt x="372110" y="279400"/>
                    <a:pt x="340360" y="311150"/>
                    <a:pt x="302260" y="311150"/>
                  </a:cubicBezTo>
                  <a:cubicBezTo>
                    <a:pt x="264160" y="311150"/>
                    <a:pt x="232410" y="279400"/>
                    <a:pt x="232410" y="241300"/>
                  </a:cubicBezTo>
                  <a:cubicBezTo>
                    <a:pt x="232410" y="201930"/>
                    <a:pt x="264160" y="171450"/>
                    <a:pt x="302260" y="171450"/>
                  </a:cubicBezTo>
                  <a:close/>
                  <a:moveTo>
                    <a:pt x="546100" y="332740"/>
                  </a:moveTo>
                  <a:cubicBezTo>
                    <a:pt x="596900" y="332740"/>
                    <a:pt x="638810" y="290830"/>
                    <a:pt x="638810" y="240030"/>
                  </a:cubicBezTo>
                  <a:cubicBezTo>
                    <a:pt x="638810" y="189230"/>
                    <a:pt x="596900" y="148590"/>
                    <a:pt x="546100" y="148590"/>
                  </a:cubicBezTo>
                  <a:cubicBezTo>
                    <a:pt x="495300" y="148590"/>
                    <a:pt x="454660" y="190500"/>
                    <a:pt x="454660" y="241300"/>
                  </a:cubicBezTo>
                  <a:cubicBezTo>
                    <a:pt x="454660" y="292100"/>
                    <a:pt x="495300" y="332740"/>
                    <a:pt x="546100" y="332740"/>
                  </a:cubicBezTo>
                  <a:close/>
                  <a:moveTo>
                    <a:pt x="546100" y="171450"/>
                  </a:moveTo>
                  <a:cubicBezTo>
                    <a:pt x="584200" y="171450"/>
                    <a:pt x="615950" y="203200"/>
                    <a:pt x="615950" y="241300"/>
                  </a:cubicBezTo>
                  <a:cubicBezTo>
                    <a:pt x="615950" y="279400"/>
                    <a:pt x="584200" y="311150"/>
                    <a:pt x="546100" y="311150"/>
                  </a:cubicBezTo>
                  <a:cubicBezTo>
                    <a:pt x="508000" y="311150"/>
                    <a:pt x="476250" y="279400"/>
                    <a:pt x="476250" y="241300"/>
                  </a:cubicBezTo>
                  <a:cubicBezTo>
                    <a:pt x="476250" y="201930"/>
                    <a:pt x="508000" y="171450"/>
                    <a:pt x="546100" y="171450"/>
                  </a:cubicBezTo>
                  <a:close/>
                  <a:moveTo>
                    <a:pt x="791210" y="332740"/>
                  </a:moveTo>
                  <a:cubicBezTo>
                    <a:pt x="842010" y="332740"/>
                    <a:pt x="883920" y="290830"/>
                    <a:pt x="883920" y="240030"/>
                  </a:cubicBezTo>
                  <a:cubicBezTo>
                    <a:pt x="883920" y="189230"/>
                    <a:pt x="842010" y="147320"/>
                    <a:pt x="791210" y="147320"/>
                  </a:cubicBezTo>
                  <a:cubicBezTo>
                    <a:pt x="740410" y="147320"/>
                    <a:pt x="698500" y="190500"/>
                    <a:pt x="698500" y="241300"/>
                  </a:cubicBezTo>
                  <a:cubicBezTo>
                    <a:pt x="698500" y="292100"/>
                    <a:pt x="740410" y="332740"/>
                    <a:pt x="791210" y="332740"/>
                  </a:cubicBezTo>
                  <a:close/>
                  <a:moveTo>
                    <a:pt x="791210" y="171450"/>
                  </a:moveTo>
                  <a:cubicBezTo>
                    <a:pt x="829310" y="171450"/>
                    <a:pt x="861060" y="203200"/>
                    <a:pt x="861060" y="241300"/>
                  </a:cubicBezTo>
                  <a:cubicBezTo>
                    <a:pt x="861060" y="279400"/>
                    <a:pt x="829310" y="311150"/>
                    <a:pt x="791210" y="311150"/>
                  </a:cubicBezTo>
                  <a:cubicBezTo>
                    <a:pt x="753110" y="311150"/>
                    <a:pt x="721360" y="279400"/>
                    <a:pt x="721360" y="241300"/>
                  </a:cubicBezTo>
                  <a:cubicBezTo>
                    <a:pt x="721360" y="201930"/>
                    <a:pt x="751840" y="171450"/>
                    <a:pt x="791210" y="171450"/>
                  </a:cubicBezTo>
                  <a:close/>
                </a:path>
              </a:pathLst>
            </a:custGeom>
            <a:solidFill>
              <a:srgbClr val="1B1464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872818" y="750072"/>
            <a:ext cx="4458365" cy="5246370"/>
            <a:chOff x="0" y="0"/>
            <a:chExt cx="5396230" cy="6350000"/>
          </a:xfrm>
        </p:grpSpPr>
        <p:sp>
          <p:nvSpPr>
            <p:cNvPr id="9" name="Freeform 9"/>
            <p:cNvSpPr/>
            <p:nvPr/>
          </p:nvSpPr>
          <p:spPr>
            <a:xfrm>
              <a:off x="11430" y="11430"/>
              <a:ext cx="5373370" cy="6327140"/>
            </a:xfrm>
            <a:custGeom>
              <a:avLst/>
              <a:gdLst/>
              <a:ahLst/>
              <a:cxnLst/>
              <a:rect l="l" t="t" r="r" b="b"/>
              <a:pathLst>
                <a:path w="5373370" h="6327140">
                  <a:moveTo>
                    <a:pt x="5373370" y="610870"/>
                  </a:moveTo>
                  <a:lnTo>
                    <a:pt x="5373370" y="953770"/>
                  </a:lnTo>
                  <a:moveTo>
                    <a:pt x="5373370" y="953770"/>
                  </a:moveTo>
                  <a:lnTo>
                    <a:pt x="5373370" y="6079490"/>
                  </a:lnTo>
                  <a:cubicBezTo>
                    <a:pt x="5373370" y="6216650"/>
                    <a:pt x="5262880" y="6327140"/>
                    <a:pt x="5125720" y="6327140"/>
                  </a:cubicBezTo>
                  <a:lnTo>
                    <a:pt x="247650" y="6327140"/>
                  </a:lnTo>
                  <a:cubicBezTo>
                    <a:pt x="110490" y="6327140"/>
                    <a:pt x="0" y="6216650"/>
                    <a:pt x="0" y="6079490"/>
                  </a:cubicBezTo>
                  <a:lnTo>
                    <a:pt x="0" y="247650"/>
                  </a:lnTo>
                  <a:cubicBezTo>
                    <a:pt x="0" y="110490"/>
                    <a:pt x="110490" y="0"/>
                    <a:pt x="247650" y="0"/>
                  </a:cubicBezTo>
                  <a:lnTo>
                    <a:pt x="5125720" y="0"/>
                  </a:lnTo>
                  <a:cubicBezTo>
                    <a:pt x="5262880" y="0"/>
                    <a:pt x="5373370" y="110490"/>
                    <a:pt x="5373370" y="247650"/>
                  </a:cubicBezTo>
                  <a:lnTo>
                    <a:pt x="5373370" y="610870"/>
                  </a:lnTo>
                </a:path>
              </a:pathLst>
            </a:custGeom>
            <a:blipFill>
              <a:blip r:embed="rId3"/>
              <a:stretch>
                <a:fillRect t="-6648" b="-664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5148580" y="471170"/>
              <a:ext cx="236220" cy="5868670"/>
            </a:xfrm>
            <a:custGeom>
              <a:avLst/>
              <a:gdLst/>
              <a:ahLst/>
              <a:cxnLst/>
              <a:rect l="l" t="t" r="r" b="b"/>
              <a:pathLst>
                <a:path w="236220" h="5868670">
                  <a:moveTo>
                    <a:pt x="236220" y="240030"/>
                  </a:moveTo>
                  <a:lnTo>
                    <a:pt x="236220" y="494030"/>
                  </a:lnTo>
                  <a:moveTo>
                    <a:pt x="236220" y="494030"/>
                  </a:moveTo>
                  <a:lnTo>
                    <a:pt x="236220" y="5868670"/>
                  </a:lnTo>
                  <a:lnTo>
                    <a:pt x="0" y="5868670"/>
                  </a:lnTo>
                  <a:lnTo>
                    <a:pt x="0" y="0"/>
                  </a:lnTo>
                  <a:lnTo>
                    <a:pt x="236220" y="0"/>
                  </a:lnTo>
                  <a:lnTo>
                    <a:pt x="236220" y="240030"/>
                  </a:lnTo>
                </a:path>
              </a:pathLst>
            </a:custGeom>
            <a:solidFill>
              <a:srgbClr val="E60012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1430" y="11430"/>
              <a:ext cx="5373370" cy="4245610"/>
            </a:xfrm>
            <a:custGeom>
              <a:avLst/>
              <a:gdLst/>
              <a:ahLst/>
              <a:cxnLst/>
              <a:rect l="l" t="t" r="r" b="b"/>
              <a:pathLst>
                <a:path w="5373370" h="4245610">
                  <a:moveTo>
                    <a:pt x="5373370" y="2345690"/>
                  </a:moveTo>
                  <a:lnTo>
                    <a:pt x="5373370" y="4182110"/>
                  </a:lnTo>
                  <a:cubicBezTo>
                    <a:pt x="5373370" y="4217670"/>
                    <a:pt x="5344160" y="4245610"/>
                    <a:pt x="5309870" y="4245610"/>
                  </a:cubicBezTo>
                  <a:lnTo>
                    <a:pt x="5201920" y="4245610"/>
                  </a:lnTo>
                  <a:cubicBezTo>
                    <a:pt x="5166360" y="4245610"/>
                    <a:pt x="5138420" y="4216400"/>
                    <a:pt x="5138420" y="4182110"/>
                  </a:cubicBezTo>
                  <a:lnTo>
                    <a:pt x="5138420" y="2345690"/>
                  </a:lnTo>
                  <a:cubicBezTo>
                    <a:pt x="5138420" y="2310130"/>
                    <a:pt x="5167630" y="2282190"/>
                    <a:pt x="5201920" y="2282190"/>
                  </a:cubicBezTo>
                  <a:lnTo>
                    <a:pt x="5309870" y="2282190"/>
                  </a:lnTo>
                  <a:cubicBezTo>
                    <a:pt x="5344160" y="2282190"/>
                    <a:pt x="5373370" y="2310130"/>
                    <a:pt x="5373370" y="2345690"/>
                  </a:cubicBezTo>
                  <a:close/>
                  <a:moveTo>
                    <a:pt x="5126990" y="0"/>
                  </a:moveTo>
                  <a:lnTo>
                    <a:pt x="246380" y="0"/>
                  </a:lnTo>
                  <a:cubicBezTo>
                    <a:pt x="110490" y="0"/>
                    <a:pt x="0" y="110490"/>
                    <a:pt x="0" y="246380"/>
                  </a:cubicBezTo>
                  <a:lnTo>
                    <a:pt x="0" y="458470"/>
                  </a:lnTo>
                  <a:lnTo>
                    <a:pt x="5373370" y="458470"/>
                  </a:lnTo>
                  <a:lnTo>
                    <a:pt x="5373370" y="246380"/>
                  </a:lnTo>
                  <a:cubicBezTo>
                    <a:pt x="5373370" y="110490"/>
                    <a:pt x="5262880" y="0"/>
                    <a:pt x="5126990" y="0"/>
                  </a:cubicBezTo>
                  <a:close/>
                </a:path>
              </a:pathLst>
            </a:custGeom>
            <a:solidFill>
              <a:srgbClr val="00A51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20980" y="160020"/>
              <a:ext cx="651510" cy="162560"/>
            </a:xfrm>
            <a:custGeom>
              <a:avLst/>
              <a:gdLst/>
              <a:ahLst/>
              <a:cxnLst/>
              <a:rect l="l" t="t" r="r" b="b"/>
              <a:pathLst>
                <a:path w="651510" h="162560">
                  <a:moveTo>
                    <a:pt x="162560" y="81280"/>
                  </a:moveTo>
                  <a:cubicBezTo>
                    <a:pt x="162560" y="125730"/>
                    <a:pt x="125730" y="162560"/>
                    <a:pt x="81280" y="162560"/>
                  </a:cubicBezTo>
                  <a:cubicBezTo>
                    <a:pt x="36830" y="162560"/>
                    <a:pt x="0" y="125730"/>
                    <a:pt x="0" y="81280"/>
                  </a:cubicBezTo>
                  <a:cubicBezTo>
                    <a:pt x="0" y="36830"/>
                    <a:pt x="36830" y="0"/>
                    <a:pt x="81280" y="0"/>
                  </a:cubicBezTo>
                  <a:cubicBezTo>
                    <a:pt x="125730" y="0"/>
                    <a:pt x="162560" y="35560"/>
                    <a:pt x="162560" y="81280"/>
                  </a:cubicBezTo>
                  <a:close/>
                  <a:moveTo>
                    <a:pt x="570230" y="0"/>
                  </a:moveTo>
                  <a:cubicBezTo>
                    <a:pt x="525780" y="0"/>
                    <a:pt x="488950" y="36830"/>
                    <a:pt x="488950" y="81280"/>
                  </a:cubicBezTo>
                  <a:cubicBezTo>
                    <a:pt x="488950" y="125730"/>
                    <a:pt x="525780" y="162560"/>
                    <a:pt x="570230" y="162560"/>
                  </a:cubicBezTo>
                  <a:cubicBezTo>
                    <a:pt x="614680" y="162560"/>
                    <a:pt x="651510" y="125730"/>
                    <a:pt x="651510" y="81280"/>
                  </a:cubicBezTo>
                  <a:cubicBezTo>
                    <a:pt x="651510" y="36830"/>
                    <a:pt x="614680" y="0"/>
                    <a:pt x="570230" y="0"/>
                  </a:cubicBezTo>
                  <a:close/>
                  <a:moveTo>
                    <a:pt x="325120" y="0"/>
                  </a:moveTo>
                  <a:cubicBezTo>
                    <a:pt x="280670" y="0"/>
                    <a:pt x="243840" y="36830"/>
                    <a:pt x="243840" y="81280"/>
                  </a:cubicBezTo>
                  <a:cubicBezTo>
                    <a:pt x="243840" y="125730"/>
                    <a:pt x="280670" y="162560"/>
                    <a:pt x="325120" y="162560"/>
                  </a:cubicBezTo>
                  <a:cubicBezTo>
                    <a:pt x="369570" y="162560"/>
                    <a:pt x="406400" y="125730"/>
                    <a:pt x="406400" y="81280"/>
                  </a:cubicBezTo>
                  <a:cubicBezTo>
                    <a:pt x="406400" y="36830"/>
                    <a:pt x="370840" y="0"/>
                    <a:pt x="325120" y="0"/>
                  </a:cubicBezTo>
                  <a:close/>
                </a:path>
              </a:pathLst>
            </a:custGeom>
            <a:solidFill>
              <a:srgbClr val="FFCD78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397500" cy="6350000"/>
            </a:xfrm>
            <a:custGeom>
              <a:avLst/>
              <a:gdLst/>
              <a:ahLst/>
              <a:cxnLst/>
              <a:rect l="l" t="t" r="r" b="b"/>
              <a:pathLst>
                <a:path w="5397500" h="6350000">
                  <a:moveTo>
                    <a:pt x="5137150" y="0"/>
                  </a:moveTo>
                  <a:lnTo>
                    <a:pt x="259080" y="0"/>
                  </a:lnTo>
                  <a:cubicBezTo>
                    <a:pt x="115570" y="0"/>
                    <a:pt x="0" y="115570"/>
                    <a:pt x="0" y="259080"/>
                  </a:cubicBezTo>
                  <a:lnTo>
                    <a:pt x="0" y="6090920"/>
                  </a:lnTo>
                  <a:cubicBezTo>
                    <a:pt x="0" y="6234430"/>
                    <a:pt x="115570" y="6350000"/>
                    <a:pt x="259080" y="6350000"/>
                  </a:cubicBezTo>
                  <a:lnTo>
                    <a:pt x="5137150" y="6350000"/>
                  </a:lnTo>
                  <a:cubicBezTo>
                    <a:pt x="5140960" y="6350000"/>
                    <a:pt x="5143500" y="6350000"/>
                    <a:pt x="5147310" y="6350000"/>
                  </a:cubicBezTo>
                  <a:lnTo>
                    <a:pt x="5148580" y="6350000"/>
                  </a:lnTo>
                  <a:cubicBezTo>
                    <a:pt x="5149850" y="6350000"/>
                    <a:pt x="5149850" y="6350000"/>
                    <a:pt x="5151120" y="6350000"/>
                  </a:cubicBezTo>
                  <a:cubicBezTo>
                    <a:pt x="5288280" y="6343650"/>
                    <a:pt x="5397500" y="6230620"/>
                    <a:pt x="5397500" y="6092190"/>
                  </a:cubicBezTo>
                  <a:lnTo>
                    <a:pt x="5397500" y="4145280"/>
                  </a:lnTo>
                  <a:lnTo>
                    <a:pt x="5397500" y="2406650"/>
                  </a:lnTo>
                  <a:lnTo>
                    <a:pt x="5397500" y="471170"/>
                  </a:lnTo>
                  <a:lnTo>
                    <a:pt x="5397500" y="259080"/>
                  </a:lnTo>
                  <a:cubicBezTo>
                    <a:pt x="5396230" y="115570"/>
                    <a:pt x="5279390" y="0"/>
                    <a:pt x="5137150" y="0"/>
                  </a:cubicBezTo>
                  <a:close/>
                  <a:moveTo>
                    <a:pt x="259080" y="22860"/>
                  </a:moveTo>
                  <a:lnTo>
                    <a:pt x="5137150" y="22860"/>
                  </a:lnTo>
                  <a:cubicBezTo>
                    <a:pt x="5267960" y="22860"/>
                    <a:pt x="5373370" y="128270"/>
                    <a:pt x="5373370" y="259080"/>
                  </a:cubicBezTo>
                  <a:lnTo>
                    <a:pt x="5373370" y="459740"/>
                  </a:lnTo>
                  <a:lnTo>
                    <a:pt x="5147310" y="459740"/>
                  </a:lnTo>
                  <a:lnTo>
                    <a:pt x="22860" y="459740"/>
                  </a:lnTo>
                  <a:lnTo>
                    <a:pt x="22860" y="259080"/>
                  </a:lnTo>
                  <a:cubicBezTo>
                    <a:pt x="22860" y="128270"/>
                    <a:pt x="128270" y="22860"/>
                    <a:pt x="259080" y="22860"/>
                  </a:cubicBezTo>
                  <a:close/>
                  <a:moveTo>
                    <a:pt x="22860" y="6090920"/>
                  </a:moveTo>
                  <a:lnTo>
                    <a:pt x="22860" y="481330"/>
                  </a:lnTo>
                  <a:lnTo>
                    <a:pt x="5137150" y="481330"/>
                  </a:lnTo>
                  <a:lnTo>
                    <a:pt x="5137150" y="6327140"/>
                  </a:lnTo>
                  <a:lnTo>
                    <a:pt x="259080" y="6327140"/>
                  </a:lnTo>
                  <a:cubicBezTo>
                    <a:pt x="128270" y="6327140"/>
                    <a:pt x="22860" y="6221730"/>
                    <a:pt x="22860" y="6090920"/>
                  </a:cubicBezTo>
                  <a:close/>
                  <a:moveTo>
                    <a:pt x="5373370" y="6090920"/>
                  </a:moveTo>
                  <a:cubicBezTo>
                    <a:pt x="5373370" y="6214110"/>
                    <a:pt x="5279390" y="6314440"/>
                    <a:pt x="5158740" y="6325870"/>
                  </a:cubicBezTo>
                  <a:lnTo>
                    <a:pt x="5158740" y="4216400"/>
                  </a:lnTo>
                  <a:cubicBezTo>
                    <a:pt x="5181600" y="4248150"/>
                    <a:pt x="5218430" y="4269740"/>
                    <a:pt x="5260340" y="4269740"/>
                  </a:cubicBezTo>
                  <a:lnTo>
                    <a:pt x="5270500" y="4269740"/>
                  </a:lnTo>
                  <a:cubicBezTo>
                    <a:pt x="5312410" y="4269740"/>
                    <a:pt x="5350510" y="4248150"/>
                    <a:pt x="5372100" y="4216400"/>
                  </a:cubicBezTo>
                  <a:lnTo>
                    <a:pt x="5372100" y="6090920"/>
                  </a:lnTo>
                  <a:lnTo>
                    <a:pt x="5373370" y="6090920"/>
                  </a:lnTo>
                  <a:close/>
                  <a:moveTo>
                    <a:pt x="5158740" y="4145280"/>
                  </a:moveTo>
                  <a:lnTo>
                    <a:pt x="5158740" y="2406650"/>
                  </a:lnTo>
                  <a:cubicBezTo>
                    <a:pt x="5158740" y="2350770"/>
                    <a:pt x="5204460" y="2305050"/>
                    <a:pt x="5260340" y="2305050"/>
                  </a:cubicBezTo>
                  <a:lnTo>
                    <a:pt x="5270500" y="2305050"/>
                  </a:lnTo>
                  <a:cubicBezTo>
                    <a:pt x="5326380" y="2305050"/>
                    <a:pt x="5372100" y="2350770"/>
                    <a:pt x="5372100" y="2406650"/>
                  </a:cubicBezTo>
                  <a:lnTo>
                    <a:pt x="5372100" y="4145280"/>
                  </a:lnTo>
                  <a:cubicBezTo>
                    <a:pt x="5372100" y="4201160"/>
                    <a:pt x="5326380" y="4246880"/>
                    <a:pt x="5270500" y="4246880"/>
                  </a:cubicBezTo>
                  <a:lnTo>
                    <a:pt x="5260340" y="4246880"/>
                  </a:lnTo>
                  <a:cubicBezTo>
                    <a:pt x="5204460" y="4246880"/>
                    <a:pt x="5158740" y="4201160"/>
                    <a:pt x="5158740" y="4145280"/>
                  </a:cubicBezTo>
                  <a:close/>
                  <a:moveTo>
                    <a:pt x="5271770" y="2282190"/>
                  </a:moveTo>
                  <a:lnTo>
                    <a:pt x="5261610" y="2282190"/>
                  </a:lnTo>
                  <a:cubicBezTo>
                    <a:pt x="5219700" y="2282190"/>
                    <a:pt x="5181600" y="2303780"/>
                    <a:pt x="5160010" y="2335530"/>
                  </a:cubicBezTo>
                  <a:lnTo>
                    <a:pt x="5160010" y="481330"/>
                  </a:lnTo>
                  <a:lnTo>
                    <a:pt x="5374640" y="481330"/>
                  </a:lnTo>
                  <a:lnTo>
                    <a:pt x="5374640" y="2334260"/>
                  </a:lnTo>
                  <a:cubicBezTo>
                    <a:pt x="5350510" y="2303780"/>
                    <a:pt x="5313680" y="2282190"/>
                    <a:pt x="5271770" y="2282190"/>
                  </a:cubicBezTo>
                  <a:close/>
                  <a:moveTo>
                    <a:pt x="302260" y="332740"/>
                  </a:moveTo>
                  <a:cubicBezTo>
                    <a:pt x="353060" y="332740"/>
                    <a:pt x="394970" y="290830"/>
                    <a:pt x="394970" y="240030"/>
                  </a:cubicBezTo>
                  <a:cubicBezTo>
                    <a:pt x="394970" y="189230"/>
                    <a:pt x="353060" y="147320"/>
                    <a:pt x="302260" y="147320"/>
                  </a:cubicBezTo>
                  <a:cubicBezTo>
                    <a:pt x="251460" y="147320"/>
                    <a:pt x="209550" y="190500"/>
                    <a:pt x="209550" y="241300"/>
                  </a:cubicBezTo>
                  <a:cubicBezTo>
                    <a:pt x="209550" y="292100"/>
                    <a:pt x="251460" y="332740"/>
                    <a:pt x="302260" y="332740"/>
                  </a:cubicBezTo>
                  <a:close/>
                  <a:moveTo>
                    <a:pt x="302260" y="171450"/>
                  </a:moveTo>
                  <a:cubicBezTo>
                    <a:pt x="340360" y="171450"/>
                    <a:pt x="372110" y="203200"/>
                    <a:pt x="372110" y="241300"/>
                  </a:cubicBezTo>
                  <a:cubicBezTo>
                    <a:pt x="372110" y="279400"/>
                    <a:pt x="340360" y="311150"/>
                    <a:pt x="302260" y="311150"/>
                  </a:cubicBezTo>
                  <a:cubicBezTo>
                    <a:pt x="264160" y="311150"/>
                    <a:pt x="232410" y="279400"/>
                    <a:pt x="232410" y="241300"/>
                  </a:cubicBezTo>
                  <a:cubicBezTo>
                    <a:pt x="232410" y="201930"/>
                    <a:pt x="264160" y="171450"/>
                    <a:pt x="302260" y="171450"/>
                  </a:cubicBezTo>
                  <a:close/>
                  <a:moveTo>
                    <a:pt x="546100" y="332740"/>
                  </a:moveTo>
                  <a:cubicBezTo>
                    <a:pt x="596900" y="332740"/>
                    <a:pt x="638810" y="290830"/>
                    <a:pt x="638810" y="240030"/>
                  </a:cubicBezTo>
                  <a:cubicBezTo>
                    <a:pt x="638810" y="189230"/>
                    <a:pt x="596900" y="148590"/>
                    <a:pt x="546100" y="148590"/>
                  </a:cubicBezTo>
                  <a:cubicBezTo>
                    <a:pt x="495300" y="148590"/>
                    <a:pt x="454660" y="190500"/>
                    <a:pt x="454660" y="241300"/>
                  </a:cubicBezTo>
                  <a:cubicBezTo>
                    <a:pt x="454660" y="292100"/>
                    <a:pt x="495300" y="332740"/>
                    <a:pt x="546100" y="332740"/>
                  </a:cubicBezTo>
                  <a:close/>
                  <a:moveTo>
                    <a:pt x="546100" y="171450"/>
                  </a:moveTo>
                  <a:cubicBezTo>
                    <a:pt x="584200" y="171450"/>
                    <a:pt x="615950" y="203200"/>
                    <a:pt x="615950" y="241300"/>
                  </a:cubicBezTo>
                  <a:cubicBezTo>
                    <a:pt x="615950" y="279400"/>
                    <a:pt x="584200" y="311150"/>
                    <a:pt x="546100" y="311150"/>
                  </a:cubicBezTo>
                  <a:cubicBezTo>
                    <a:pt x="508000" y="311150"/>
                    <a:pt x="476250" y="279400"/>
                    <a:pt x="476250" y="241300"/>
                  </a:cubicBezTo>
                  <a:cubicBezTo>
                    <a:pt x="476250" y="201930"/>
                    <a:pt x="508000" y="171450"/>
                    <a:pt x="546100" y="171450"/>
                  </a:cubicBezTo>
                  <a:close/>
                  <a:moveTo>
                    <a:pt x="791210" y="332740"/>
                  </a:moveTo>
                  <a:cubicBezTo>
                    <a:pt x="842010" y="332740"/>
                    <a:pt x="883920" y="290830"/>
                    <a:pt x="883920" y="240030"/>
                  </a:cubicBezTo>
                  <a:cubicBezTo>
                    <a:pt x="883920" y="189230"/>
                    <a:pt x="842010" y="147320"/>
                    <a:pt x="791210" y="147320"/>
                  </a:cubicBezTo>
                  <a:cubicBezTo>
                    <a:pt x="740410" y="147320"/>
                    <a:pt x="698500" y="190500"/>
                    <a:pt x="698500" y="241300"/>
                  </a:cubicBezTo>
                  <a:cubicBezTo>
                    <a:pt x="698500" y="292100"/>
                    <a:pt x="740410" y="332740"/>
                    <a:pt x="791210" y="332740"/>
                  </a:cubicBezTo>
                  <a:close/>
                  <a:moveTo>
                    <a:pt x="791210" y="171450"/>
                  </a:moveTo>
                  <a:cubicBezTo>
                    <a:pt x="829310" y="171450"/>
                    <a:pt x="861060" y="203200"/>
                    <a:pt x="861060" y="241300"/>
                  </a:cubicBezTo>
                  <a:cubicBezTo>
                    <a:pt x="861060" y="279400"/>
                    <a:pt x="829310" y="311150"/>
                    <a:pt x="791210" y="311150"/>
                  </a:cubicBezTo>
                  <a:cubicBezTo>
                    <a:pt x="753110" y="311150"/>
                    <a:pt x="721360" y="279400"/>
                    <a:pt x="721360" y="241300"/>
                  </a:cubicBezTo>
                  <a:cubicBezTo>
                    <a:pt x="721360" y="201930"/>
                    <a:pt x="751840" y="171450"/>
                    <a:pt x="791210" y="171450"/>
                  </a:cubicBezTo>
                  <a:close/>
                </a:path>
              </a:pathLst>
            </a:custGeom>
            <a:solidFill>
              <a:srgbClr val="1B146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8896" y="3211714"/>
            <a:ext cx="5470208" cy="641244"/>
            <a:chOff x="0" y="0"/>
            <a:chExt cx="711200" cy="833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1200" cy="83370"/>
            </a:xfrm>
            <a:custGeom>
              <a:avLst/>
              <a:gdLst/>
              <a:ahLst/>
              <a:cxnLst/>
              <a:rect l="l" t="t" r="r" b="b"/>
              <a:pathLst>
                <a:path w="711200" h="83370">
                  <a:moveTo>
                    <a:pt x="711200" y="0"/>
                  </a:moveTo>
                  <a:lnTo>
                    <a:pt x="711200" y="62536"/>
                  </a:lnTo>
                  <a:cubicBezTo>
                    <a:pt x="651933" y="62536"/>
                    <a:pt x="651933" y="83370"/>
                    <a:pt x="592667" y="83370"/>
                  </a:cubicBezTo>
                  <a:cubicBezTo>
                    <a:pt x="533381" y="83370"/>
                    <a:pt x="533381" y="62536"/>
                    <a:pt x="474115" y="62536"/>
                  </a:cubicBezTo>
                  <a:cubicBezTo>
                    <a:pt x="414848" y="62536"/>
                    <a:pt x="414848" y="83370"/>
                    <a:pt x="355581" y="83370"/>
                  </a:cubicBezTo>
                  <a:cubicBezTo>
                    <a:pt x="296315" y="83370"/>
                    <a:pt x="296315" y="62536"/>
                    <a:pt x="237048" y="62536"/>
                  </a:cubicBezTo>
                  <a:cubicBezTo>
                    <a:pt x="177781" y="62536"/>
                    <a:pt x="177781" y="83370"/>
                    <a:pt x="118533" y="83370"/>
                  </a:cubicBezTo>
                  <a:cubicBezTo>
                    <a:pt x="59267" y="83370"/>
                    <a:pt x="59267" y="62536"/>
                    <a:pt x="0" y="62536"/>
                  </a:cubicBezTo>
                  <a:lnTo>
                    <a:pt x="0" y="0"/>
                  </a:lnTo>
                  <a:cubicBezTo>
                    <a:pt x="59267" y="0"/>
                    <a:pt x="59267" y="20834"/>
                    <a:pt x="118533" y="20834"/>
                  </a:cubicBezTo>
                  <a:cubicBezTo>
                    <a:pt x="177781" y="20834"/>
                    <a:pt x="177781" y="0"/>
                    <a:pt x="237048" y="0"/>
                  </a:cubicBezTo>
                  <a:cubicBezTo>
                    <a:pt x="296315" y="0"/>
                    <a:pt x="296315" y="20834"/>
                    <a:pt x="355581" y="20834"/>
                  </a:cubicBezTo>
                  <a:cubicBezTo>
                    <a:pt x="414848" y="20834"/>
                    <a:pt x="414848" y="0"/>
                    <a:pt x="474115" y="0"/>
                  </a:cubicBezTo>
                  <a:cubicBezTo>
                    <a:pt x="533381" y="0"/>
                    <a:pt x="533381" y="20834"/>
                    <a:pt x="592667" y="20834"/>
                  </a:cubicBezTo>
                  <a:cubicBezTo>
                    <a:pt x="651933" y="20834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009944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6343"/>
              <a:ext cx="711200" cy="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6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8130043" y="2524666"/>
            <a:ext cx="2015342" cy="2015342"/>
          </a:xfrm>
          <a:custGeom>
            <a:avLst/>
            <a:gdLst/>
            <a:ahLst/>
            <a:cxnLst/>
            <a:rect l="l" t="t" r="r" b="b"/>
            <a:pathLst>
              <a:path w="2015342" h="2015342">
                <a:moveTo>
                  <a:pt x="0" y="0"/>
                </a:moveTo>
                <a:lnTo>
                  <a:pt x="2015342" y="0"/>
                </a:lnTo>
                <a:lnTo>
                  <a:pt x="2015342" y="2015342"/>
                </a:lnTo>
                <a:lnTo>
                  <a:pt x="0" y="2015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806250" y="6614008"/>
            <a:ext cx="8675500" cy="2644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9"/>
              </a:lnSpc>
            </a:pPr>
            <a:r>
              <a:rPr lang="en-US" sz="19809" spc="-1188">
                <a:solidFill>
                  <a:srgbClr val="D00D16"/>
                </a:solidFill>
                <a:latin typeface="Sprite Graffiti"/>
                <a:ea typeface="Sprite Graffiti"/>
                <a:cs typeface="Sprite Graffiti"/>
                <a:sym typeface="Sprite Graffiti"/>
              </a:rPr>
              <a:t>The 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4244" y="6204433"/>
            <a:ext cx="2965498" cy="88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Акылбекова </a:t>
            </a:r>
            <a:r>
              <a:rPr lang="ru-RU" sz="2543" dirty="0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Ка</a:t>
            </a:r>
            <a:r>
              <a:rPr lang="en-US" sz="2543" dirty="0" err="1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рина</a:t>
            </a:r>
            <a:endParaRPr lang="en-US" sz="2543" dirty="0">
              <a:solidFill>
                <a:srgbClr val="41414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695016" y="6204433"/>
            <a:ext cx="2965498" cy="88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41414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Ануарбекова Жанара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601</Words>
  <Application>Microsoft Office PowerPoint</Application>
  <PresentationFormat>Произвольный</PresentationFormat>
  <Paragraphs>85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Calibri</vt:lpstr>
      <vt:lpstr>Helvetica World</vt:lpstr>
      <vt:lpstr>Sprite Graffiti</vt:lpstr>
      <vt:lpstr>Helvetica World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ануарбекова жанара акылбекова карина</dc:title>
  <cp:lastModifiedBy>Карина Акылбекова</cp:lastModifiedBy>
  <cp:revision>3</cp:revision>
  <dcterms:created xsi:type="dcterms:W3CDTF">2006-08-16T00:00:00Z</dcterms:created>
  <dcterms:modified xsi:type="dcterms:W3CDTF">2026-09-24T06:15:06Z</dcterms:modified>
  <dc:identifier>DAHWBg7fMKc</dc:identifier>
</cp:coreProperties>
</file>